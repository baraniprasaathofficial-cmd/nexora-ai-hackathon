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5" r:id="rId6"/>
    <p:sldId id="260" r:id="rId7"/>
    <p:sldId id="261" r:id="rId8"/>
    <p:sldId id="266" r:id="rId9"/>
    <p:sldId id="262"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1754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F1E"/>
          </a:solidFill>
          <a:ln/>
        </p:spPr>
      </p:sp>
      <p:sp>
        <p:nvSpPr>
          <p:cNvPr id="3" name="Shape 1"/>
          <p:cNvSpPr/>
          <p:nvPr/>
        </p:nvSpPr>
        <p:spPr>
          <a:xfrm>
            <a:off x="7863840" y="0"/>
            <a:ext cx="4325112" cy="6858000"/>
          </a:xfrm>
          <a:prstGeom prst="rect">
            <a:avLst/>
          </a:prstGeom>
          <a:solidFill>
            <a:srgbClr val="111A2E"/>
          </a:solidFill>
          <a:ln/>
        </p:spPr>
      </p:sp>
      <p:sp>
        <p:nvSpPr>
          <p:cNvPr id="4" name="Shape 2"/>
          <p:cNvSpPr/>
          <p:nvPr/>
        </p:nvSpPr>
        <p:spPr>
          <a:xfrm>
            <a:off x="8229600" y="365760"/>
            <a:ext cx="45720" cy="45720"/>
          </a:xfrm>
          <a:prstGeom prst="ellipse">
            <a:avLst/>
          </a:prstGeom>
          <a:solidFill>
            <a:srgbClr val="00E5A0"/>
          </a:solidFill>
          <a:ln/>
        </p:spPr>
      </p:sp>
      <p:sp>
        <p:nvSpPr>
          <p:cNvPr id="5" name="Shape 3"/>
          <p:cNvSpPr/>
          <p:nvPr/>
        </p:nvSpPr>
        <p:spPr>
          <a:xfrm>
            <a:off x="8778240" y="594360"/>
            <a:ext cx="45720" cy="45720"/>
          </a:xfrm>
          <a:prstGeom prst="ellipse">
            <a:avLst/>
          </a:prstGeom>
          <a:solidFill>
            <a:srgbClr val="00E5A0"/>
          </a:solidFill>
          <a:ln/>
        </p:spPr>
      </p:sp>
      <p:sp>
        <p:nvSpPr>
          <p:cNvPr id="6" name="Shape 4"/>
          <p:cNvSpPr/>
          <p:nvPr/>
        </p:nvSpPr>
        <p:spPr>
          <a:xfrm>
            <a:off x="9326880" y="365760"/>
            <a:ext cx="45720" cy="45720"/>
          </a:xfrm>
          <a:prstGeom prst="ellipse">
            <a:avLst/>
          </a:prstGeom>
          <a:solidFill>
            <a:srgbClr val="00E5A0"/>
          </a:solidFill>
          <a:ln/>
        </p:spPr>
      </p:sp>
      <p:sp>
        <p:nvSpPr>
          <p:cNvPr id="7" name="Shape 5"/>
          <p:cNvSpPr/>
          <p:nvPr/>
        </p:nvSpPr>
        <p:spPr>
          <a:xfrm>
            <a:off x="9875520" y="594360"/>
            <a:ext cx="45720" cy="45720"/>
          </a:xfrm>
          <a:prstGeom prst="ellipse">
            <a:avLst/>
          </a:prstGeom>
          <a:solidFill>
            <a:srgbClr val="00E5A0"/>
          </a:solidFill>
          <a:ln/>
        </p:spPr>
      </p:sp>
      <p:sp>
        <p:nvSpPr>
          <p:cNvPr id="8" name="Shape 6"/>
          <p:cNvSpPr/>
          <p:nvPr/>
        </p:nvSpPr>
        <p:spPr>
          <a:xfrm>
            <a:off x="10424160" y="365760"/>
            <a:ext cx="45720" cy="45720"/>
          </a:xfrm>
          <a:prstGeom prst="ellipse">
            <a:avLst/>
          </a:prstGeom>
          <a:solidFill>
            <a:srgbClr val="00E5A0"/>
          </a:solidFill>
          <a:ln/>
        </p:spPr>
      </p:sp>
      <p:sp>
        <p:nvSpPr>
          <p:cNvPr id="9" name="Shape 7"/>
          <p:cNvSpPr/>
          <p:nvPr/>
        </p:nvSpPr>
        <p:spPr>
          <a:xfrm>
            <a:off x="10972800" y="594360"/>
            <a:ext cx="45720" cy="45720"/>
          </a:xfrm>
          <a:prstGeom prst="ellipse">
            <a:avLst/>
          </a:prstGeom>
          <a:solidFill>
            <a:srgbClr val="00E5A0"/>
          </a:solidFill>
          <a:ln/>
        </p:spPr>
      </p:sp>
      <p:sp>
        <p:nvSpPr>
          <p:cNvPr id="10" name="Shape 8"/>
          <p:cNvSpPr/>
          <p:nvPr/>
        </p:nvSpPr>
        <p:spPr>
          <a:xfrm>
            <a:off x="7863840" y="0"/>
            <a:ext cx="0" cy="6858000"/>
          </a:xfrm>
          <a:prstGeom prst="line">
            <a:avLst/>
          </a:prstGeom>
          <a:noFill/>
          <a:ln w="19050">
            <a:solidFill>
              <a:srgbClr val="00E5A0"/>
            </a:solidFill>
            <a:prstDash val="solid"/>
          </a:ln>
        </p:spPr>
      </p:sp>
      <p:sp>
        <p:nvSpPr>
          <p:cNvPr id="11" name="Text 9"/>
          <p:cNvSpPr/>
          <p:nvPr/>
        </p:nvSpPr>
        <p:spPr>
          <a:xfrm>
            <a:off x="640080" y="548640"/>
            <a:ext cx="5029200" cy="365760"/>
          </a:xfrm>
          <a:prstGeom prst="rect">
            <a:avLst/>
          </a:prstGeom>
          <a:noFill/>
          <a:ln/>
        </p:spPr>
        <p:txBody>
          <a:bodyPr wrap="square" rtlCol="0" anchor="ctr"/>
          <a:lstStyle/>
          <a:p>
            <a:pPr marL="0" indent="0">
              <a:buNone/>
            </a:pPr>
            <a:r>
              <a:rPr lang="en-US" sz="1300" b="1" kern="0" spc="200" dirty="0">
                <a:solidFill>
                  <a:srgbClr val="00E5A0"/>
                </a:solidFill>
                <a:latin typeface="Calibri" pitchFamily="34" charset="0"/>
                <a:ea typeface="Calibri" pitchFamily="34" charset="-122"/>
                <a:cs typeface="Calibri" pitchFamily="34" charset="-120"/>
              </a:rPr>
              <a:t>HACKATHON SUBMISSION</a:t>
            </a:r>
            <a:endParaRPr lang="en-US" sz="1300" dirty="0"/>
          </a:p>
        </p:txBody>
      </p:sp>
      <p:sp>
        <p:nvSpPr>
          <p:cNvPr id="12" name="Shape 10"/>
          <p:cNvSpPr/>
          <p:nvPr/>
        </p:nvSpPr>
        <p:spPr>
          <a:xfrm>
            <a:off x="640080" y="914400"/>
            <a:ext cx="2148840" cy="384048"/>
          </a:xfrm>
          <a:prstGeom prst="roundRect">
            <a:avLst>
              <a:gd name="adj" fmla="val 50000"/>
            </a:avLst>
          </a:prstGeom>
          <a:solidFill>
            <a:srgbClr val="16223B"/>
          </a:solidFill>
          <a:ln w="12700">
            <a:solidFill>
              <a:srgbClr val="3AA0FF"/>
            </a:solidFill>
            <a:prstDash val="solid"/>
          </a:ln>
        </p:spPr>
      </p:sp>
      <p:sp>
        <p:nvSpPr>
          <p:cNvPr id="13" name="Text 11"/>
          <p:cNvSpPr/>
          <p:nvPr/>
        </p:nvSpPr>
        <p:spPr>
          <a:xfrm>
            <a:off x="640080" y="914400"/>
            <a:ext cx="2148840" cy="384048"/>
          </a:xfrm>
          <a:prstGeom prst="rect">
            <a:avLst/>
          </a:prstGeom>
          <a:noFill/>
          <a:ln/>
        </p:spPr>
        <p:txBody>
          <a:bodyPr wrap="square" rtlCol="0" anchor="ctr"/>
          <a:lstStyle/>
          <a:p>
            <a:pPr marL="0" indent="0" algn="ctr">
              <a:buNone/>
            </a:pPr>
            <a:r>
              <a:rPr lang="en-US" sz="1150" b="1" dirty="0">
                <a:solidFill>
                  <a:srgbClr val="3AA0FF"/>
                </a:solidFill>
                <a:latin typeface="Calibri" pitchFamily="34" charset="0"/>
                <a:ea typeface="Calibri" pitchFamily="34" charset="-122"/>
                <a:cs typeface="Calibri" pitchFamily="34" charset="-120"/>
              </a:rPr>
              <a:t>TEAM: ZERO TEAMX</a:t>
            </a:r>
            <a:endParaRPr lang="en-US" sz="1150" dirty="0"/>
          </a:p>
        </p:txBody>
      </p:sp>
      <p:sp>
        <p:nvSpPr>
          <p:cNvPr id="14" name="Text 12"/>
          <p:cNvSpPr/>
          <p:nvPr/>
        </p:nvSpPr>
        <p:spPr>
          <a:xfrm>
            <a:off x="640080" y="1600200"/>
            <a:ext cx="6949440" cy="1920240"/>
          </a:xfrm>
          <a:prstGeom prst="rect">
            <a:avLst/>
          </a:prstGeom>
          <a:noFill/>
          <a:ln/>
        </p:spPr>
        <p:txBody>
          <a:bodyPr wrap="square" rtlCol="0" anchor="ctr"/>
          <a:lstStyle/>
          <a:p>
            <a:pPr marL="0" indent="0">
              <a:lnSpc>
                <a:spcPct val="105000"/>
              </a:lnSpc>
              <a:buNone/>
            </a:pPr>
            <a:r>
              <a:rPr lang="en-US" sz="4400" b="1" dirty="0">
                <a:solidFill>
                  <a:srgbClr val="F2F5FA"/>
                </a:solidFill>
                <a:latin typeface="Cambria" pitchFamily="34" charset="0"/>
                <a:ea typeface="Cambria" pitchFamily="34" charset="-122"/>
                <a:cs typeface="Cambria" pitchFamily="34" charset="-120"/>
              </a:rPr>
              <a:t>Personalised</a:t>
            </a:r>
            <a:endParaRPr lang="en-US" sz="4400" dirty="0"/>
          </a:p>
          <a:p>
            <a:pPr marL="0" indent="0">
              <a:lnSpc>
                <a:spcPct val="105000"/>
              </a:lnSpc>
              <a:buNone/>
            </a:pPr>
            <a:r>
              <a:rPr lang="en-US" sz="4400" b="1" dirty="0">
                <a:solidFill>
                  <a:srgbClr val="F2F5FA"/>
                </a:solidFill>
                <a:latin typeface="Cambria" pitchFamily="34" charset="0"/>
                <a:ea typeface="Cambria" pitchFamily="34" charset="-122"/>
                <a:cs typeface="Cambria" pitchFamily="34" charset="-120"/>
              </a:rPr>
              <a:t>Vulnerability Triage</a:t>
            </a:r>
            <a:endParaRPr lang="en-US" sz="4400" dirty="0"/>
          </a:p>
        </p:txBody>
      </p:sp>
      <p:sp>
        <p:nvSpPr>
          <p:cNvPr id="15" name="Text 13"/>
          <p:cNvSpPr/>
          <p:nvPr/>
        </p:nvSpPr>
        <p:spPr>
          <a:xfrm>
            <a:off x="640080" y="3566160"/>
            <a:ext cx="6766560" cy="822960"/>
          </a:xfrm>
          <a:prstGeom prst="rect">
            <a:avLst/>
          </a:prstGeom>
          <a:noFill/>
          <a:ln/>
        </p:spPr>
        <p:txBody>
          <a:bodyPr wrap="square" rtlCol="0" anchor="ctr"/>
          <a:lstStyle/>
          <a:p>
            <a:pPr marL="0" indent="0">
              <a:buNone/>
            </a:pPr>
            <a:r>
              <a:rPr lang="en-US" sz="1500" i="1" dirty="0">
                <a:solidFill>
                  <a:srgbClr val="9AA8C0"/>
                </a:solidFill>
                <a:latin typeface="Calibri" pitchFamily="34" charset="0"/>
                <a:ea typeface="Calibri" pitchFamily="34" charset="-122"/>
                <a:cs typeface="Calibri" pitchFamily="34" charset="-120"/>
              </a:rPr>
              <a:t>Turning public cyber data into five clear actions a small organisation can understand and defend.</a:t>
            </a:r>
            <a:endParaRPr lang="en-US" sz="1500" dirty="0"/>
          </a:p>
        </p:txBody>
      </p:sp>
      <p:sp>
        <p:nvSpPr>
          <p:cNvPr id="16" name="Shape 14"/>
          <p:cNvSpPr/>
          <p:nvPr/>
        </p:nvSpPr>
        <p:spPr>
          <a:xfrm>
            <a:off x="640080" y="4434840"/>
            <a:ext cx="2377440" cy="457200"/>
          </a:xfrm>
          <a:prstGeom prst="roundRect">
            <a:avLst>
              <a:gd name="adj" fmla="val 50000"/>
            </a:avLst>
          </a:prstGeom>
          <a:solidFill>
            <a:srgbClr val="0E2A22"/>
          </a:solidFill>
          <a:ln w="12700">
            <a:solidFill>
              <a:srgbClr val="00E5A0"/>
            </a:solidFill>
            <a:prstDash val="solid"/>
          </a:ln>
        </p:spPr>
      </p:sp>
      <p:sp>
        <p:nvSpPr>
          <p:cNvPr id="17" name="Text 15"/>
          <p:cNvSpPr/>
          <p:nvPr/>
        </p:nvSpPr>
        <p:spPr>
          <a:xfrm>
            <a:off x="640080" y="4434840"/>
            <a:ext cx="2377440" cy="457200"/>
          </a:xfrm>
          <a:prstGeom prst="rect">
            <a:avLst/>
          </a:prstGeom>
          <a:noFill/>
          <a:ln/>
        </p:spPr>
        <p:txBody>
          <a:bodyPr wrap="square" rtlCol="0" anchor="ctr"/>
          <a:lstStyle/>
          <a:p>
            <a:pPr marL="0" indent="0" algn="ctr">
              <a:buNone/>
            </a:pPr>
            <a:r>
              <a:rPr lang="en-US" sz="1300" b="1" dirty="0">
                <a:solidFill>
                  <a:srgbClr val="00E5A0"/>
                </a:solidFill>
                <a:latin typeface="Calibri" pitchFamily="34" charset="0"/>
                <a:ea typeface="Calibri" pitchFamily="34" charset="-122"/>
                <a:cs typeface="Calibri" pitchFamily="34" charset="-120"/>
              </a:rPr>
              <a:t>DOMAIN: CYBER</a:t>
            </a:r>
            <a:endParaRPr lang="en-US" sz="1300" dirty="0"/>
          </a:p>
        </p:txBody>
      </p:sp>
      <p:sp>
        <p:nvSpPr>
          <p:cNvPr id="18" name="Text 16"/>
          <p:cNvSpPr/>
          <p:nvPr/>
        </p:nvSpPr>
        <p:spPr>
          <a:xfrm>
            <a:off x="8275320" y="548640"/>
            <a:ext cx="3474720" cy="365760"/>
          </a:xfrm>
          <a:prstGeom prst="rect">
            <a:avLst/>
          </a:prstGeom>
          <a:noFill/>
          <a:ln/>
        </p:spPr>
        <p:txBody>
          <a:bodyPr wrap="square" rtlCol="0" anchor="ctr"/>
          <a:lstStyle/>
          <a:p>
            <a:pPr marL="0" indent="0">
              <a:buNone/>
            </a:pPr>
            <a:r>
              <a:rPr lang="en-US" sz="1300" b="1" kern="0" spc="200" dirty="0">
                <a:solidFill>
                  <a:srgbClr val="3AA0FF"/>
                </a:solidFill>
                <a:latin typeface="Calibri" pitchFamily="34" charset="0"/>
                <a:ea typeface="Calibri" pitchFamily="34" charset="-122"/>
                <a:cs typeface="Calibri" pitchFamily="34" charset="-120"/>
              </a:rPr>
              <a:t>TEAM</a:t>
            </a:r>
            <a:endParaRPr lang="en-US" sz="1300" dirty="0"/>
          </a:p>
        </p:txBody>
      </p:sp>
      <p:sp>
        <p:nvSpPr>
          <p:cNvPr id="19" name="Shape 17"/>
          <p:cNvSpPr/>
          <p:nvPr/>
        </p:nvSpPr>
        <p:spPr>
          <a:xfrm>
            <a:off x="8275320" y="1143000"/>
            <a:ext cx="457200" cy="457200"/>
          </a:xfrm>
          <a:prstGeom prst="ellipse">
            <a:avLst/>
          </a:prstGeom>
          <a:solidFill>
            <a:srgbClr val="16223B"/>
          </a:solidFill>
          <a:ln w="15875">
            <a:solidFill>
              <a:srgbClr val="00E5A0"/>
            </a:solidFill>
            <a:prstDash val="solid"/>
          </a:ln>
        </p:spPr>
      </p:sp>
      <p:sp>
        <p:nvSpPr>
          <p:cNvPr id="20" name="Text 18"/>
          <p:cNvSpPr/>
          <p:nvPr/>
        </p:nvSpPr>
        <p:spPr>
          <a:xfrm>
            <a:off x="8275320" y="1143000"/>
            <a:ext cx="457200" cy="457200"/>
          </a:xfrm>
          <a:prstGeom prst="rect">
            <a:avLst/>
          </a:prstGeom>
          <a:noFill/>
          <a:ln/>
        </p:spPr>
        <p:txBody>
          <a:bodyPr wrap="square" rtlCol="0" anchor="ctr"/>
          <a:lstStyle/>
          <a:p>
            <a:pPr marL="0" indent="0" algn="ctr">
              <a:buNone/>
            </a:pPr>
            <a:r>
              <a:rPr lang="en-US" sz="1300" b="1" dirty="0">
                <a:solidFill>
                  <a:srgbClr val="00E5A0"/>
                </a:solidFill>
                <a:latin typeface="Calibri" pitchFamily="34" charset="0"/>
                <a:ea typeface="Calibri" pitchFamily="34" charset="-122"/>
                <a:cs typeface="Calibri" pitchFamily="34" charset="-120"/>
              </a:rPr>
              <a:t>1</a:t>
            </a:r>
            <a:endParaRPr lang="en-US" sz="1300" dirty="0"/>
          </a:p>
        </p:txBody>
      </p:sp>
      <p:sp>
        <p:nvSpPr>
          <p:cNvPr id="21" name="Text 19"/>
          <p:cNvSpPr/>
          <p:nvPr/>
        </p:nvSpPr>
        <p:spPr>
          <a:xfrm>
            <a:off x="8915400" y="1124712"/>
            <a:ext cx="2834640" cy="320040"/>
          </a:xfrm>
          <a:prstGeom prst="rect">
            <a:avLst/>
          </a:prstGeom>
          <a:noFill/>
          <a:ln/>
        </p:spPr>
        <p:txBody>
          <a:bodyPr wrap="square" rtlCol="0" anchor="ctr"/>
          <a:lstStyle/>
          <a:p>
            <a:pPr marL="0" indent="0">
              <a:buNone/>
            </a:pPr>
            <a:r>
              <a:rPr lang="en-US" sz="1500" b="1" dirty="0">
                <a:solidFill>
                  <a:srgbClr val="F2F5FA"/>
                </a:solidFill>
                <a:latin typeface="Cambria" pitchFamily="34" charset="0"/>
                <a:ea typeface="Cambria" pitchFamily="34" charset="-122"/>
                <a:cs typeface="Cambria" pitchFamily="34" charset="-120"/>
              </a:rPr>
              <a:t>Kanishkka P S</a:t>
            </a:r>
            <a:endParaRPr lang="en-US" sz="1500" dirty="0"/>
          </a:p>
        </p:txBody>
      </p:sp>
      <p:sp>
        <p:nvSpPr>
          <p:cNvPr id="22" name="Text 20"/>
          <p:cNvSpPr/>
          <p:nvPr/>
        </p:nvSpPr>
        <p:spPr>
          <a:xfrm>
            <a:off x="8915400" y="1399032"/>
            <a:ext cx="2834640" cy="274320"/>
          </a:xfrm>
          <a:prstGeom prst="rect">
            <a:avLst/>
          </a:prstGeom>
          <a:noFill/>
          <a:ln/>
        </p:spPr>
        <p:txBody>
          <a:bodyPr wrap="square" rtlCol="0" anchor="ctr"/>
          <a:lstStyle/>
          <a:p>
            <a:pPr marL="0" indent="0">
              <a:buNone/>
            </a:pPr>
            <a:r>
              <a:rPr lang="en-US" sz="1100" dirty="0">
                <a:solidFill>
                  <a:srgbClr val="9AA8C0"/>
                </a:solidFill>
                <a:latin typeface="Calibri" pitchFamily="34" charset="0"/>
                <a:ea typeface="Calibri" pitchFamily="34" charset="-122"/>
                <a:cs typeface="Calibri" pitchFamily="34" charset="-120"/>
              </a:rPr>
              <a:t>Team Leader</a:t>
            </a:r>
            <a:endParaRPr lang="en-US" sz="1100" dirty="0"/>
          </a:p>
        </p:txBody>
      </p:sp>
      <p:sp>
        <p:nvSpPr>
          <p:cNvPr id="23" name="Shape 21"/>
          <p:cNvSpPr/>
          <p:nvPr/>
        </p:nvSpPr>
        <p:spPr>
          <a:xfrm>
            <a:off x="8275320" y="2011680"/>
            <a:ext cx="457200" cy="457200"/>
          </a:xfrm>
          <a:prstGeom prst="ellipse">
            <a:avLst/>
          </a:prstGeom>
          <a:solidFill>
            <a:srgbClr val="16223B"/>
          </a:solidFill>
          <a:ln w="15875">
            <a:solidFill>
              <a:srgbClr val="3AA0FF"/>
            </a:solidFill>
            <a:prstDash val="solid"/>
          </a:ln>
        </p:spPr>
      </p:sp>
      <p:sp>
        <p:nvSpPr>
          <p:cNvPr id="24" name="Text 22"/>
          <p:cNvSpPr/>
          <p:nvPr/>
        </p:nvSpPr>
        <p:spPr>
          <a:xfrm>
            <a:off x="8275320" y="2011680"/>
            <a:ext cx="457200" cy="457200"/>
          </a:xfrm>
          <a:prstGeom prst="rect">
            <a:avLst/>
          </a:prstGeom>
          <a:noFill/>
          <a:ln/>
        </p:spPr>
        <p:txBody>
          <a:bodyPr wrap="square" rtlCol="0" anchor="ctr"/>
          <a:lstStyle/>
          <a:p>
            <a:pPr marL="0" indent="0" algn="ctr">
              <a:buNone/>
            </a:pPr>
            <a:r>
              <a:rPr lang="en-US" sz="1300" b="1" dirty="0">
                <a:solidFill>
                  <a:srgbClr val="3AA0FF"/>
                </a:solidFill>
                <a:latin typeface="Calibri" pitchFamily="34" charset="0"/>
                <a:ea typeface="Calibri" pitchFamily="34" charset="-122"/>
                <a:cs typeface="Calibri" pitchFamily="34" charset="-120"/>
              </a:rPr>
              <a:t>2</a:t>
            </a:r>
            <a:endParaRPr lang="en-US" sz="1300" dirty="0"/>
          </a:p>
        </p:txBody>
      </p:sp>
      <p:sp>
        <p:nvSpPr>
          <p:cNvPr id="25" name="Text 23"/>
          <p:cNvSpPr/>
          <p:nvPr/>
        </p:nvSpPr>
        <p:spPr>
          <a:xfrm>
            <a:off x="8915400" y="1993392"/>
            <a:ext cx="2834640" cy="320040"/>
          </a:xfrm>
          <a:prstGeom prst="rect">
            <a:avLst/>
          </a:prstGeom>
          <a:noFill/>
          <a:ln/>
        </p:spPr>
        <p:txBody>
          <a:bodyPr wrap="square" rtlCol="0" anchor="ctr"/>
          <a:lstStyle/>
          <a:p>
            <a:pPr marL="0" indent="0">
              <a:buNone/>
            </a:pPr>
            <a:r>
              <a:rPr lang="en-US" sz="1500" b="1" dirty="0">
                <a:solidFill>
                  <a:srgbClr val="F2F5FA"/>
                </a:solidFill>
                <a:latin typeface="Cambria" pitchFamily="34" charset="0"/>
                <a:ea typeface="Cambria" pitchFamily="34" charset="-122"/>
                <a:cs typeface="Cambria" pitchFamily="34" charset="-120"/>
              </a:rPr>
              <a:t>Cianaa Chris Evangelin</a:t>
            </a:r>
            <a:endParaRPr lang="en-US" sz="1500" dirty="0"/>
          </a:p>
        </p:txBody>
      </p:sp>
      <p:sp>
        <p:nvSpPr>
          <p:cNvPr id="26" name="Text 24"/>
          <p:cNvSpPr/>
          <p:nvPr/>
        </p:nvSpPr>
        <p:spPr>
          <a:xfrm>
            <a:off x="8915400" y="2267712"/>
            <a:ext cx="2834640" cy="274320"/>
          </a:xfrm>
          <a:prstGeom prst="rect">
            <a:avLst/>
          </a:prstGeom>
          <a:noFill/>
          <a:ln/>
        </p:spPr>
        <p:txBody>
          <a:bodyPr wrap="square" rtlCol="0" anchor="ctr"/>
          <a:lstStyle/>
          <a:p>
            <a:pPr marL="0" indent="0">
              <a:buNone/>
            </a:pPr>
            <a:r>
              <a:rPr lang="en-US" sz="1100" dirty="0">
                <a:solidFill>
                  <a:srgbClr val="9AA8C0"/>
                </a:solidFill>
                <a:latin typeface="Calibri" pitchFamily="34" charset="0"/>
                <a:ea typeface="Calibri" pitchFamily="34" charset="-122"/>
                <a:cs typeface="Calibri" pitchFamily="34" charset="-120"/>
              </a:rPr>
              <a:t>Member 2</a:t>
            </a:r>
            <a:endParaRPr lang="en-US" sz="1100" dirty="0"/>
          </a:p>
        </p:txBody>
      </p:sp>
      <p:sp>
        <p:nvSpPr>
          <p:cNvPr id="27" name="Shape 25"/>
          <p:cNvSpPr/>
          <p:nvPr/>
        </p:nvSpPr>
        <p:spPr>
          <a:xfrm>
            <a:off x="8275320" y="2880360"/>
            <a:ext cx="457200" cy="457200"/>
          </a:xfrm>
          <a:prstGeom prst="ellipse">
            <a:avLst/>
          </a:prstGeom>
          <a:solidFill>
            <a:srgbClr val="16223B"/>
          </a:solidFill>
          <a:ln w="15875">
            <a:solidFill>
              <a:srgbClr val="3AA0FF"/>
            </a:solidFill>
            <a:prstDash val="solid"/>
          </a:ln>
        </p:spPr>
      </p:sp>
      <p:sp>
        <p:nvSpPr>
          <p:cNvPr id="28" name="Text 26"/>
          <p:cNvSpPr/>
          <p:nvPr/>
        </p:nvSpPr>
        <p:spPr>
          <a:xfrm>
            <a:off x="8275320" y="2880360"/>
            <a:ext cx="457200" cy="457200"/>
          </a:xfrm>
          <a:prstGeom prst="rect">
            <a:avLst/>
          </a:prstGeom>
          <a:noFill/>
          <a:ln/>
        </p:spPr>
        <p:txBody>
          <a:bodyPr wrap="square" rtlCol="0" anchor="ctr"/>
          <a:lstStyle/>
          <a:p>
            <a:pPr marL="0" indent="0" algn="ctr">
              <a:buNone/>
            </a:pPr>
            <a:r>
              <a:rPr lang="en-US" sz="1300" b="1" dirty="0">
                <a:solidFill>
                  <a:srgbClr val="3AA0FF"/>
                </a:solidFill>
                <a:latin typeface="Calibri" pitchFamily="34" charset="0"/>
                <a:ea typeface="Calibri" pitchFamily="34" charset="-122"/>
                <a:cs typeface="Calibri" pitchFamily="34" charset="-120"/>
              </a:rPr>
              <a:t>3</a:t>
            </a:r>
            <a:endParaRPr lang="en-US" sz="1300" dirty="0"/>
          </a:p>
        </p:txBody>
      </p:sp>
      <p:sp>
        <p:nvSpPr>
          <p:cNvPr id="29" name="Text 27"/>
          <p:cNvSpPr/>
          <p:nvPr/>
        </p:nvSpPr>
        <p:spPr>
          <a:xfrm>
            <a:off x="8915400" y="2862072"/>
            <a:ext cx="2834640" cy="320040"/>
          </a:xfrm>
          <a:prstGeom prst="rect">
            <a:avLst/>
          </a:prstGeom>
          <a:noFill/>
          <a:ln/>
        </p:spPr>
        <p:txBody>
          <a:bodyPr wrap="square" rtlCol="0" anchor="ctr"/>
          <a:lstStyle/>
          <a:p>
            <a:pPr marL="0" indent="0">
              <a:buNone/>
            </a:pPr>
            <a:r>
              <a:rPr lang="en-US" sz="1500" b="1" dirty="0">
                <a:solidFill>
                  <a:srgbClr val="F2F5FA"/>
                </a:solidFill>
                <a:latin typeface="Cambria" pitchFamily="34" charset="0"/>
                <a:ea typeface="Cambria" pitchFamily="34" charset="-122"/>
                <a:cs typeface="Cambria" pitchFamily="34" charset="-120"/>
              </a:rPr>
              <a:t>Barani Prasaath R R</a:t>
            </a:r>
            <a:endParaRPr lang="en-US" sz="1500" dirty="0"/>
          </a:p>
        </p:txBody>
      </p:sp>
      <p:sp>
        <p:nvSpPr>
          <p:cNvPr id="30" name="Text 28"/>
          <p:cNvSpPr/>
          <p:nvPr/>
        </p:nvSpPr>
        <p:spPr>
          <a:xfrm>
            <a:off x="8915400" y="3136392"/>
            <a:ext cx="2834640" cy="274320"/>
          </a:xfrm>
          <a:prstGeom prst="rect">
            <a:avLst/>
          </a:prstGeom>
          <a:noFill/>
          <a:ln/>
        </p:spPr>
        <p:txBody>
          <a:bodyPr wrap="square" rtlCol="0" anchor="ctr"/>
          <a:lstStyle/>
          <a:p>
            <a:pPr marL="0" indent="0">
              <a:buNone/>
            </a:pPr>
            <a:r>
              <a:rPr lang="en-US" sz="1100" dirty="0">
                <a:solidFill>
                  <a:srgbClr val="9AA8C0"/>
                </a:solidFill>
                <a:latin typeface="Calibri" pitchFamily="34" charset="0"/>
                <a:ea typeface="Calibri" pitchFamily="34" charset="-122"/>
                <a:cs typeface="Calibri" pitchFamily="34" charset="-120"/>
              </a:rPr>
              <a:t>Member 3</a:t>
            </a:r>
            <a:endParaRPr lang="en-US" sz="1100" dirty="0"/>
          </a:p>
        </p:txBody>
      </p:sp>
      <p:sp>
        <p:nvSpPr>
          <p:cNvPr id="31" name="Shape 29"/>
          <p:cNvSpPr/>
          <p:nvPr/>
        </p:nvSpPr>
        <p:spPr>
          <a:xfrm>
            <a:off x="8275320" y="3749040"/>
            <a:ext cx="457200" cy="457200"/>
          </a:xfrm>
          <a:prstGeom prst="ellipse">
            <a:avLst/>
          </a:prstGeom>
          <a:solidFill>
            <a:srgbClr val="16223B"/>
          </a:solidFill>
          <a:ln w="15875">
            <a:solidFill>
              <a:srgbClr val="3AA0FF"/>
            </a:solidFill>
            <a:prstDash val="solid"/>
          </a:ln>
        </p:spPr>
      </p:sp>
      <p:sp>
        <p:nvSpPr>
          <p:cNvPr id="32" name="Text 30"/>
          <p:cNvSpPr/>
          <p:nvPr/>
        </p:nvSpPr>
        <p:spPr>
          <a:xfrm>
            <a:off x="8275320" y="3749040"/>
            <a:ext cx="457200" cy="457200"/>
          </a:xfrm>
          <a:prstGeom prst="rect">
            <a:avLst/>
          </a:prstGeom>
          <a:noFill/>
          <a:ln/>
        </p:spPr>
        <p:txBody>
          <a:bodyPr wrap="square" rtlCol="0" anchor="ctr"/>
          <a:lstStyle/>
          <a:p>
            <a:pPr marL="0" indent="0" algn="ctr">
              <a:buNone/>
            </a:pPr>
            <a:r>
              <a:rPr lang="en-US" sz="1300" b="1" dirty="0">
                <a:solidFill>
                  <a:srgbClr val="3AA0FF"/>
                </a:solidFill>
                <a:latin typeface="Calibri" pitchFamily="34" charset="0"/>
                <a:ea typeface="Calibri" pitchFamily="34" charset="-122"/>
                <a:cs typeface="Calibri" pitchFamily="34" charset="-120"/>
              </a:rPr>
              <a:t>4</a:t>
            </a:r>
            <a:endParaRPr lang="en-US" sz="1300" dirty="0"/>
          </a:p>
        </p:txBody>
      </p:sp>
      <p:sp>
        <p:nvSpPr>
          <p:cNvPr id="33" name="Text 31"/>
          <p:cNvSpPr/>
          <p:nvPr/>
        </p:nvSpPr>
        <p:spPr>
          <a:xfrm>
            <a:off x="8915400" y="3730752"/>
            <a:ext cx="2834640" cy="320040"/>
          </a:xfrm>
          <a:prstGeom prst="rect">
            <a:avLst/>
          </a:prstGeom>
          <a:noFill/>
          <a:ln/>
        </p:spPr>
        <p:txBody>
          <a:bodyPr wrap="square" rtlCol="0" anchor="ctr"/>
          <a:lstStyle/>
          <a:p>
            <a:pPr marL="0" indent="0">
              <a:buNone/>
            </a:pPr>
            <a:r>
              <a:rPr lang="en-US" sz="1500" b="1" dirty="0">
                <a:solidFill>
                  <a:srgbClr val="F2F5FA"/>
                </a:solidFill>
                <a:latin typeface="Cambria" pitchFamily="34" charset="0"/>
                <a:ea typeface="Cambria" pitchFamily="34" charset="-122"/>
                <a:cs typeface="Cambria" pitchFamily="34" charset="-120"/>
              </a:rPr>
              <a:t>Bala S</a:t>
            </a:r>
            <a:endParaRPr lang="en-US" sz="1500" dirty="0"/>
          </a:p>
        </p:txBody>
      </p:sp>
      <p:sp>
        <p:nvSpPr>
          <p:cNvPr id="34" name="Text 32"/>
          <p:cNvSpPr/>
          <p:nvPr/>
        </p:nvSpPr>
        <p:spPr>
          <a:xfrm>
            <a:off x="8915400" y="4005072"/>
            <a:ext cx="2834640" cy="274320"/>
          </a:xfrm>
          <a:prstGeom prst="rect">
            <a:avLst/>
          </a:prstGeom>
          <a:noFill/>
          <a:ln/>
        </p:spPr>
        <p:txBody>
          <a:bodyPr wrap="square" rtlCol="0" anchor="ctr"/>
          <a:lstStyle/>
          <a:p>
            <a:pPr marL="0" indent="0">
              <a:buNone/>
            </a:pPr>
            <a:r>
              <a:rPr lang="en-US" sz="1100" dirty="0">
                <a:solidFill>
                  <a:srgbClr val="9AA8C0"/>
                </a:solidFill>
                <a:latin typeface="Calibri" pitchFamily="34" charset="0"/>
                <a:ea typeface="Calibri" pitchFamily="34" charset="-122"/>
                <a:cs typeface="Calibri" pitchFamily="34" charset="-120"/>
              </a:rPr>
              <a:t>Member 4</a:t>
            </a:r>
            <a:endParaRPr lang="en-US" sz="1100" dirty="0"/>
          </a:p>
        </p:txBody>
      </p:sp>
      <p:sp>
        <p:nvSpPr>
          <p:cNvPr id="35" name="Text 33"/>
          <p:cNvSpPr/>
          <p:nvPr/>
        </p:nvSpPr>
        <p:spPr>
          <a:xfrm>
            <a:off x="640080" y="6263640"/>
            <a:ext cx="5486400" cy="365760"/>
          </a:xfrm>
          <a:prstGeom prst="rect">
            <a:avLst/>
          </a:prstGeom>
          <a:noFill/>
          <a:ln/>
        </p:spPr>
        <p:txBody>
          <a:bodyPr wrap="square" rtlCol="0" anchor="ctr"/>
          <a:lstStyle/>
          <a:p>
            <a:pPr marL="0" indent="0">
              <a:buNone/>
            </a:pPr>
            <a:r>
              <a:rPr lang="en-US" sz="1100" dirty="0">
                <a:solidFill>
                  <a:srgbClr val="9AA8C0"/>
                </a:solidFill>
                <a:latin typeface="Calibri" pitchFamily="34" charset="0"/>
                <a:ea typeface="Calibri" pitchFamily="34" charset="-122"/>
                <a:cs typeface="Calibri" pitchFamily="34" charset="-120"/>
              </a:rPr>
              <a:t>24-Hour Student Challenge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01 · THE PROBLEM</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Too Much Signal, No Personal Relevance</a:t>
            </a:r>
            <a:endParaRPr lang="en-US" sz="3000" dirty="0"/>
          </a:p>
        </p:txBody>
      </p:sp>
      <p:sp>
        <p:nvSpPr>
          <p:cNvPr id="5" name="Text 3"/>
          <p:cNvSpPr/>
          <p:nvPr/>
        </p:nvSpPr>
        <p:spPr>
          <a:xfrm>
            <a:off x="548640" y="1691640"/>
            <a:ext cx="5669280" cy="1554480"/>
          </a:xfrm>
          <a:prstGeom prst="rect">
            <a:avLst/>
          </a:prstGeom>
          <a:noFill/>
          <a:ln/>
        </p:spPr>
        <p:txBody>
          <a:bodyPr wrap="square" rtlCol="0" anchor="ctr"/>
          <a:lstStyle/>
          <a:p>
            <a:pPr marL="0" indent="0">
              <a:lnSpc>
                <a:spcPct val="125000"/>
              </a:lnSpc>
              <a:buNone/>
            </a:pPr>
            <a:r>
              <a:rPr lang="en-US" sz="1450" dirty="0">
                <a:solidFill>
                  <a:srgbClr val="F2F5FA"/>
                </a:solidFill>
                <a:latin typeface="Calibri" pitchFamily="34" charset="0"/>
                <a:ea typeface="Calibri" pitchFamily="34" charset="-122"/>
                <a:cs typeface="Calibri" pitchFamily="34" charset="-120"/>
              </a:rPr>
              <a:t>Public sources publish thousands of vulnerability records, severity scores, exploitation signals and advisories. They're written for everyone — but a college, clinic, or small manufacturer runs only a small subset of affected products, and rarely has a dedicated threat analyst.</a:t>
            </a:r>
            <a:endParaRPr lang="en-US" sz="1450" dirty="0"/>
          </a:p>
        </p:txBody>
      </p:sp>
      <p:sp>
        <p:nvSpPr>
          <p:cNvPr id="6" name="Shape 4"/>
          <p:cNvSpPr/>
          <p:nvPr/>
        </p:nvSpPr>
        <p:spPr>
          <a:xfrm>
            <a:off x="548640" y="3429000"/>
            <a:ext cx="5669280" cy="1417320"/>
          </a:xfrm>
          <a:prstGeom prst="roundRect">
            <a:avLst>
              <a:gd name="adj" fmla="val 5161"/>
            </a:avLst>
          </a:prstGeom>
          <a:solidFill>
            <a:srgbClr val="111A2E"/>
          </a:solidFill>
          <a:ln w="12700">
            <a:solidFill>
              <a:srgbClr val="FF5C5C"/>
            </a:solidFill>
            <a:prstDash val="solid"/>
          </a:ln>
        </p:spPr>
      </p:sp>
      <p:sp>
        <p:nvSpPr>
          <p:cNvPr id="7" name="Text 5"/>
          <p:cNvSpPr/>
          <p:nvPr/>
        </p:nvSpPr>
        <p:spPr>
          <a:xfrm>
            <a:off x="777240" y="3566160"/>
            <a:ext cx="5212080" cy="274320"/>
          </a:xfrm>
          <a:prstGeom prst="rect">
            <a:avLst/>
          </a:prstGeom>
          <a:noFill/>
          <a:ln/>
        </p:spPr>
        <p:txBody>
          <a:bodyPr wrap="square" rtlCol="0" anchor="ctr"/>
          <a:lstStyle/>
          <a:p>
            <a:pPr marL="0" indent="0">
              <a:buNone/>
            </a:pPr>
            <a:r>
              <a:rPr lang="en-US" sz="1100" b="1" kern="0" spc="100" dirty="0">
                <a:solidFill>
                  <a:srgbClr val="FF5C5C"/>
                </a:solidFill>
                <a:latin typeface="Calibri" pitchFamily="34" charset="0"/>
                <a:ea typeface="Calibri" pitchFamily="34" charset="-122"/>
                <a:cs typeface="Calibri" pitchFamily="34" charset="-120"/>
              </a:rPr>
              <a:t>THE PAIN POINT</a:t>
            </a:r>
            <a:endParaRPr lang="en-US" sz="1100" dirty="0"/>
          </a:p>
        </p:txBody>
      </p:sp>
      <p:sp>
        <p:nvSpPr>
          <p:cNvPr id="8" name="Text 6"/>
          <p:cNvSpPr/>
          <p:nvPr/>
        </p:nvSpPr>
        <p:spPr>
          <a:xfrm>
            <a:off x="777240" y="3840480"/>
            <a:ext cx="5212080" cy="914400"/>
          </a:xfrm>
          <a:prstGeom prst="rect">
            <a:avLst/>
          </a:prstGeom>
          <a:noFill/>
          <a:ln/>
        </p:spPr>
        <p:txBody>
          <a:bodyPr wrap="square" rtlCol="0" anchor="ctr"/>
          <a:lstStyle/>
          <a:p>
            <a:pPr marL="0" indent="0">
              <a:lnSpc>
                <a:spcPct val="120000"/>
              </a:lnSpc>
              <a:buNone/>
            </a:pPr>
            <a:r>
              <a:rPr lang="en-US" sz="1300" dirty="0">
                <a:solidFill>
                  <a:srgbClr val="F2F5FA"/>
                </a:solidFill>
                <a:latin typeface="Calibri" pitchFamily="34" charset="0"/>
                <a:ea typeface="Calibri" pitchFamily="34" charset="-122"/>
                <a:cs typeface="Calibri" pitchFamily="34" charset="-120"/>
              </a:rPr>
              <a:t>A limited IT team can't quickly tell which records touch its own services. When every item looks urgent, warnings are delayed, effort is wasted on irrelevant products, and people eventually stop reading.</a:t>
            </a:r>
            <a:endParaRPr lang="en-US" sz="1300" dirty="0"/>
          </a:p>
        </p:txBody>
      </p:sp>
      <p:sp>
        <p:nvSpPr>
          <p:cNvPr id="9" name="Shape 7"/>
          <p:cNvSpPr/>
          <p:nvPr/>
        </p:nvSpPr>
        <p:spPr>
          <a:xfrm>
            <a:off x="548640" y="5074920"/>
            <a:ext cx="5669280" cy="1051560"/>
          </a:xfrm>
          <a:prstGeom prst="roundRect">
            <a:avLst>
              <a:gd name="adj" fmla="val 6957"/>
            </a:avLst>
          </a:prstGeom>
          <a:solidFill>
            <a:srgbClr val="0E2A22"/>
          </a:solidFill>
          <a:ln w="12700">
            <a:solidFill>
              <a:srgbClr val="00E5A0"/>
            </a:solidFill>
            <a:prstDash val="solid"/>
          </a:ln>
        </p:spPr>
      </p:sp>
      <p:sp>
        <p:nvSpPr>
          <p:cNvPr id="10" name="Text 8"/>
          <p:cNvSpPr/>
          <p:nvPr/>
        </p:nvSpPr>
        <p:spPr>
          <a:xfrm>
            <a:off x="777240" y="5193792"/>
            <a:ext cx="5212080" cy="256032"/>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HOW MIGHT WE…</a:t>
            </a:r>
            <a:endParaRPr lang="en-US" sz="1100" dirty="0"/>
          </a:p>
        </p:txBody>
      </p:sp>
      <p:sp>
        <p:nvSpPr>
          <p:cNvPr id="11" name="Text 9"/>
          <p:cNvSpPr/>
          <p:nvPr/>
        </p:nvSpPr>
        <p:spPr>
          <a:xfrm>
            <a:off x="777240" y="5431536"/>
            <a:ext cx="5212080" cy="621792"/>
          </a:xfrm>
          <a:prstGeom prst="rect">
            <a:avLst/>
          </a:prstGeom>
          <a:noFill/>
          <a:ln/>
        </p:spPr>
        <p:txBody>
          <a:bodyPr wrap="square" rtlCol="0" anchor="ctr"/>
          <a:lstStyle/>
          <a:p>
            <a:pPr marL="0" indent="0">
              <a:buNone/>
            </a:pPr>
            <a:r>
              <a:rPr lang="en-US" sz="1250" i="1" dirty="0">
                <a:solidFill>
                  <a:srgbClr val="F2F5FA"/>
                </a:solidFill>
                <a:latin typeface="Calibri" pitchFamily="34" charset="0"/>
                <a:ea typeface="Calibri" pitchFamily="34" charset="-122"/>
                <a:cs typeface="Calibri" pitchFamily="34" charset="-120"/>
              </a:rPr>
              <a:t>Turn free public vulnerability information into a ranked top five — so a non-expert sees what matters, why, and what to do next.</a:t>
            </a:r>
            <a:endParaRPr lang="en-US" sz="1250" dirty="0"/>
          </a:p>
        </p:txBody>
      </p:sp>
      <p:sp>
        <p:nvSpPr>
          <p:cNvPr id="12" name="Shape 10"/>
          <p:cNvSpPr/>
          <p:nvPr/>
        </p:nvSpPr>
        <p:spPr>
          <a:xfrm>
            <a:off x="6629400" y="1691640"/>
            <a:ext cx="5029200" cy="4434840"/>
          </a:xfrm>
          <a:prstGeom prst="roundRect">
            <a:avLst>
              <a:gd name="adj" fmla="val 2062"/>
            </a:avLst>
          </a:prstGeom>
          <a:solidFill>
            <a:srgbClr val="111A2E"/>
          </a:solidFill>
          <a:ln w="12700">
            <a:solidFill>
              <a:srgbClr val="16223B"/>
            </a:solidFill>
            <a:prstDash val="solid"/>
          </a:ln>
        </p:spPr>
      </p:sp>
      <p:sp>
        <p:nvSpPr>
          <p:cNvPr id="13" name="Text 11"/>
          <p:cNvSpPr/>
          <p:nvPr/>
        </p:nvSpPr>
        <p:spPr>
          <a:xfrm>
            <a:off x="6903720" y="1874520"/>
            <a:ext cx="4480560" cy="548640"/>
          </a:xfrm>
          <a:prstGeom prst="rect">
            <a:avLst/>
          </a:prstGeom>
          <a:noFill/>
          <a:ln/>
        </p:spPr>
        <p:txBody>
          <a:bodyPr wrap="square" rtlCol="0" anchor="ctr"/>
          <a:lstStyle/>
          <a:p>
            <a:pPr marL="0" indent="0">
              <a:buNone/>
            </a:pPr>
            <a:r>
              <a:rPr lang="en-US" sz="1100" b="1" kern="0" spc="50" dirty="0">
                <a:solidFill>
                  <a:srgbClr val="9AA8C0"/>
                </a:solidFill>
                <a:latin typeface="Calibri" pitchFamily="34" charset="0"/>
                <a:ea typeface="Calibri" pitchFamily="34" charset="-122"/>
                <a:cs typeface="Calibri" pitchFamily="34" charset="-120"/>
              </a:rPr>
              <a:t>ORGANISATIONAL CONTEXT CONVERTS</a:t>
            </a:r>
            <a:endParaRPr lang="en-US" sz="1100" dirty="0"/>
          </a:p>
          <a:p>
            <a:pPr marL="0" indent="0">
              <a:buNone/>
            </a:pPr>
            <a:r>
              <a:rPr lang="en-US" sz="1100" b="1" kern="0" spc="50" dirty="0">
                <a:solidFill>
                  <a:srgbClr val="9AA8C0"/>
                </a:solidFill>
                <a:latin typeface="Calibri" pitchFamily="34" charset="0"/>
                <a:ea typeface="Calibri" pitchFamily="34" charset="-122"/>
                <a:cs typeface="Calibri" pitchFamily="34" charset="-120"/>
              </a:rPr>
              <a:t>A GLOBAL FEED INTO A SHORT DECISION LIST</a:t>
            </a:r>
            <a:endParaRPr lang="en-US" sz="1100" dirty="0"/>
          </a:p>
        </p:txBody>
      </p:sp>
      <p:sp>
        <p:nvSpPr>
          <p:cNvPr id="14" name="Shape 12"/>
          <p:cNvSpPr/>
          <p:nvPr/>
        </p:nvSpPr>
        <p:spPr>
          <a:xfrm>
            <a:off x="6903720" y="2606040"/>
            <a:ext cx="4480560" cy="713232"/>
          </a:xfrm>
          <a:prstGeom prst="roundRect">
            <a:avLst>
              <a:gd name="adj" fmla="val 10256"/>
            </a:avLst>
          </a:prstGeom>
          <a:solidFill>
            <a:srgbClr val="16223B"/>
          </a:solidFill>
          <a:ln w="15875">
            <a:solidFill>
              <a:srgbClr val="3AA0FF"/>
            </a:solidFill>
            <a:prstDash val="solid"/>
          </a:ln>
        </p:spPr>
      </p:sp>
      <p:sp>
        <p:nvSpPr>
          <p:cNvPr id="15" name="Text 13"/>
          <p:cNvSpPr/>
          <p:nvPr/>
        </p:nvSpPr>
        <p:spPr>
          <a:xfrm>
            <a:off x="7086600" y="2660904"/>
            <a:ext cx="2103120" cy="603504"/>
          </a:xfrm>
          <a:prstGeom prst="rect">
            <a:avLst/>
          </a:prstGeom>
          <a:noFill/>
          <a:ln/>
        </p:spPr>
        <p:txBody>
          <a:bodyPr wrap="square" rtlCol="0" anchor="ctr"/>
          <a:lstStyle/>
          <a:p>
            <a:pPr marL="0" indent="0">
              <a:buNone/>
            </a:pPr>
            <a:r>
              <a:rPr lang="en-US" sz="1250" b="1" dirty="0">
                <a:solidFill>
                  <a:srgbClr val="F2F5FA"/>
                </a:solidFill>
                <a:latin typeface="Cambria" pitchFamily="34" charset="0"/>
                <a:ea typeface="Cambria" pitchFamily="34" charset="-122"/>
                <a:cs typeface="Cambria" pitchFamily="34" charset="-120"/>
              </a:rPr>
              <a:t>PUBLIC</a:t>
            </a:r>
            <a:endParaRPr lang="en-US" sz="1250" dirty="0"/>
          </a:p>
          <a:p>
            <a:pPr marL="0" indent="0">
              <a:buNone/>
            </a:pPr>
            <a:r>
              <a:rPr lang="en-US" sz="1250" b="1" dirty="0">
                <a:solidFill>
                  <a:srgbClr val="F2F5FA"/>
                </a:solidFill>
                <a:latin typeface="Cambria" pitchFamily="34" charset="0"/>
                <a:ea typeface="Cambria" pitchFamily="34" charset="-122"/>
                <a:cs typeface="Cambria" pitchFamily="34" charset="-120"/>
              </a:rPr>
              <a:t>SIGNALS</a:t>
            </a:r>
            <a:endParaRPr lang="en-US" sz="1250" dirty="0"/>
          </a:p>
        </p:txBody>
      </p:sp>
      <p:sp>
        <p:nvSpPr>
          <p:cNvPr id="16" name="Text 14"/>
          <p:cNvSpPr/>
          <p:nvPr/>
        </p:nvSpPr>
        <p:spPr>
          <a:xfrm>
            <a:off x="9281160" y="2660904"/>
            <a:ext cx="2011680" cy="603504"/>
          </a:xfrm>
          <a:prstGeom prst="rect">
            <a:avLst/>
          </a:prstGeom>
          <a:noFill/>
          <a:ln/>
        </p:spPr>
        <p:txBody>
          <a:bodyPr wrap="square" rtlCol="0" anchor="ctr"/>
          <a:lstStyle/>
          <a:p>
            <a:pPr marL="0" indent="0">
              <a:buNone/>
            </a:pPr>
            <a:r>
              <a:rPr lang="en-US" sz="1000" dirty="0">
                <a:solidFill>
                  <a:srgbClr val="9AA8C0"/>
                </a:solidFill>
                <a:latin typeface="Calibri" pitchFamily="34" charset="0"/>
                <a:ea typeface="Calibri" pitchFamily="34" charset="-122"/>
                <a:cs typeface="Calibri" pitchFamily="34" charset="-120"/>
              </a:rPr>
              <a:t>NVD · CISA KEV · FIRST EPSS</a:t>
            </a:r>
            <a:endParaRPr lang="en-US" sz="1000" dirty="0"/>
          </a:p>
        </p:txBody>
      </p:sp>
      <p:sp>
        <p:nvSpPr>
          <p:cNvPr id="17" name="Shape 15"/>
          <p:cNvSpPr/>
          <p:nvPr/>
        </p:nvSpPr>
        <p:spPr>
          <a:xfrm rot="10800000">
            <a:off x="8961120" y="3319272"/>
            <a:ext cx="201168" cy="128016"/>
          </a:xfrm>
          <a:prstGeom prst="triangle">
            <a:avLst/>
          </a:prstGeom>
          <a:solidFill>
            <a:srgbClr val="3AA0FF"/>
          </a:solidFill>
          <a:ln/>
        </p:spPr>
      </p:sp>
      <p:sp>
        <p:nvSpPr>
          <p:cNvPr id="18" name="Shape 16"/>
          <p:cNvSpPr/>
          <p:nvPr/>
        </p:nvSpPr>
        <p:spPr>
          <a:xfrm>
            <a:off x="6903720" y="3520440"/>
            <a:ext cx="4480560" cy="713232"/>
          </a:xfrm>
          <a:prstGeom prst="roundRect">
            <a:avLst>
              <a:gd name="adj" fmla="val 10256"/>
            </a:avLst>
          </a:prstGeom>
          <a:solidFill>
            <a:srgbClr val="16223B"/>
          </a:solidFill>
          <a:ln w="15875">
            <a:solidFill>
              <a:srgbClr val="00E5A0"/>
            </a:solidFill>
            <a:prstDash val="solid"/>
          </a:ln>
        </p:spPr>
      </p:sp>
      <p:sp>
        <p:nvSpPr>
          <p:cNvPr id="19" name="Text 17"/>
          <p:cNvSpPr/>
          <p:nvPr/>
        </p:nvSpPr>
        <p:spPr>
          <a:xfrm>
            <a:off x="7086600" y="3575304"/>
            <a:ext cx="2103120" cy="603504"/>
          </a:xfrm>
          <a:prstGeom prst="rect">
            <a:avLst/>
          </a:prstGeom>
          <a:noFill/>
          <a:ln/>
        </p:spPr>
        <p:txBody>
          <a:bodyPr wrap="square" rtlCol="0" anchor="ctr"/>
          <a:lstStyle/>
          <a:p>
            <a:pPr marL="0" indent="0">
              <a:buNone/>
            </a:pPr>
            <a:r>
              <a:rPr lang="en-US" sz="1250" b="1" dirty="0">
                <a:solidFill>
                  <a:srgbClr val="F2F5FA"/>
                </a:solidFill>
                <a:latin typeface="Cambria" pitchFamily="34" charset="0"/>
                <a:ea typeface="Cambria" pitchFamily="34" charset="-122"/>
                <a:cs typeface="Cambria" pitchFamily="34" charset="-120"/>
              </a:rPr>
              <a:t>ORGANISATION</a:t>
            </a:r>
            <a:endParaRPr lang="en-US" sz="1250" dirty="0"/>
          </a:p>
          <a:p>
            <a:pPr marL="0" indent="0">
              <a:buNone/>
            </a:pPr>
            <a:r>
              <a:rPr lang="en-US" sz="1250" b="1" dirty="0">
                <a:solidFill>
                  <a:srgbClr val="F2F5FA"/>
                </a:solidFill>
                <a:latin typeface="Cambria" pitchFamily="34" charset="0"/>
                <a:ea typeface="Cambria" pitchFamily="34" charset="-122"/>
                <a:cs typeface="Cambria" pitchFamily="34" charset="-120"/>
              </a:rPr>
              <a:t>PROFILE</a:t>
            </a:r>
            <a:endParaRPr lang="en-US" sz="1250" dirty="0"/>
          </a:p>
        </p:txBody>
      </p:sp>
      <p:sp>
        <p:nvSpPr>
          <p:cNvPr id="20" name="Text 18"/>
          <p:cNvSpPr/>
          <p:nvPr/>
        </p:nvSpPr>
        <p:spPr>
          <a:xfrm>
            <a:off x="9281160" y="3575304"/>
            <a:ext cx="2011680" cy="603504"/>
          </a:xfrm>
          <a:prstGeom prst="rect">
            <a:avLst/>
          </a:prstGeom>
          <a:noFill/>
          <a:ln/>
        </p:spPr>
        <p:txBody>
          <a:bodyPr wrap="square" rtlCol="0" anchor="ctr"/>
          <a:lstStyle/>
          <a:p>
            <a:pPr marL="0" indent="0">
              <a:buNone/>
            </a:pPr>
            <a:r>
              <a:rPr lang="en-US" sz="1000" dirty="0">
                <a:solidFill>
                  <a:srgbClr val="9AA8C0"/>
                </a:solidFill>
                <a:latin typeface="Calibri" pitchFamily="34" charset="0"/>
                <a:ea typeface="Calibri" pitchFamily="34" charset="-122"/>
                <a:cs typeface="Calibri" pitchFamily="34" charset="-120"/>
              </a:rPr>
              <a:t>Products · Exposure · Importance</a:t>
            </a:r>
            <a:endParaRPr lang="en-US" sz="1000" dirty="0"/>
          </a:p>
        </p:txBody>
      </p:sp>
      <p:sp>
        <p:nvSpPr>
          <p:cNvPr id="21" name="Shape 19"/>
          <p:cNvSpPr/>
          <p:nvPr/>
        </p:nvSpPr>
        <p:spPr>
          <a:xfrm rot="10800000">
            <a:off x="8961120" y="4233672"/>
            <a:ext cx="201168" cy="128016"/>
          </a:xfrm>
          <a:prstGeom prst="triangle">
            <a:avLst/>
          </a:prstGeom>
          <a:solidFill>
            <a:srgbClr val="00E5A0"/>
          </a:solidFill>
          <a:ln/>
        </p:spPr>
      </p:sp>
      <p:sp>
        <p:nvSpPr>
          <p:cNvPr id="22" name="Shape 20"/>
          <p:cNvSpPr/>
          <p:nvPr/>
        </p:nvSpPr>
        <p:spPr>
          <a:xfrm>
            <a:off x="6903720" y="4434840"/>
            <a:ext cx="4480560" cy="713232"/>
          </a:xfrm>
          <a:prstGeom prst="roundRect">
            <a:avLst>
              <a:gd name="adj" fmla="val 10256"/>
            </a:avLst>
          </a:prstGeom>
          <a:solidFill>
            <a:srgbClr val="16223B"/>
          </a:solidFill>
          <a:ln w="15875">
            <a:solidFill>
              <a:srgbClr val="F4C542"/>
            </a:solidFill>
            <a:prstDash val="solid"/>
          </a:ln>
        </p:spPr>
      </p:sp>
      <p:sp>
        <p:nvSpPr>
          <p:cNvPr id="23" name="Text 21"/>
          <p:cNvSpPr/>
          <p:nvPr/>
        </p:nvSpPr>
        <p:spPr>
          <a:xfrm>
            <a:off x="7086600" y="4489704"/>
            <a:ext cx="2103120" cy="603504"/>
          </a:xfrm>
          <a:prstGeom prst="rect">
            <a:avLst/>
          </a:prstGeom>
          <a:noFill/>
          <a:ln/>
        </p:spPr>
        <p:txBody>
          <a:bodyPr wrap="square" rtlCol="0" anchor="ctr"/>
          <a:lstStyle/>
          <a:p>
            <a:pPr marL="0" indent="0">
              <a:buNone/>
            </a:pPr>
            <a:r>
              <a:rPr lang="en-US" sz="1250" b="1" dirty="0">
                <a:solidFill>
                  <a:srgbClr val="F2F5FA"/>
                </a:solidFill>
                <a:latin typeface="Cambria" pitchFamily="34" charset="0"/>
                <a:ea typeface="Cambria" pitchFamily="34" charset="-122"/>
                <a:cs typeface="Cambria" pitchFamily="34" charset="-120"/>
              </a:rPr>
              <a:t>DECISION ENGINE</a:t>
            </a:r>
            <a:endParaRPr lang="en-US" sz="1250" dirty="0"/>
          </a:p>
        </p:txBody>
      </p:sp>
      <p:sp>
        <p:nvSpPr>
          <p:cNvPr id="24" name="Text 22"/>
          <p:cNvSpPr/>
          <p:nvPr/>
        </p:nvSpPr>
        <p:spPr>
          <a:xfrm>
            <a:off x="9281160" y="4489704"/>
            <a:ext cx="2011680" cy="603504"/>
          </a:xfrm>
          <a:prstGeom prst="rect">
            <a:avLst/>
          </a:prstGeom>
          <a:noFill/>
          <a:ln/>
        </p:spPr>
        <p:txBody>
          <a:bodyPr wrap="square" rtlCol="0" anchor="ctr"/>
          <a:lstStyle/>
          <a:p>
            <a:pPr marL="0" indent="0">
              <a:buNone/>
            </a:pPr>
            <a:r>
              <a:rPr lang="en-US" sz="1000" dirty="0">
                <a:solidFill>
                  <a:srgbClr val="9AA8C0"/>
                </a:solidFill>
                <a:latin typeface="Calibri" pitchFamily="34" charset="0"/>
                <a:ea typeface="Calibri" pitchFamily="34" charset="-122"/>
                <a:cs typeface="Calibri" pitchFamily="34" charset="-120"/>
              </a:rPr>
              <a:t>Match → Score → Explain</a:t>
            </a:r>
            <a:endParaRPr lang="en-US" sz="1000" dirty="0"/>
          </a:p>
        </p:txBody>
      </p:sp>
      <p:sp>
        <p:nvSpPr>
          <p:cNvPr id="25" name="Shape 23"/>
          <p:cNvSpPr/>
          <p:nvPr/>
        </p:nvSpPr>
        <p:spPr>
          <a:xfrm rot="10800000">
            <a:off x="8961120" y="5148072"/>
            <a:ext cx="201168" cy="128016"/>
          </a:xfrm>
          <a:prstGeom prst="triangle">
            <a:avLst/>
          </a:prstGeom>
          <a:solidFill>
            <a:srgbClr val="F4C542"/>
          </a:solidFill>
          <a:ln/>
        </p:spPr>
      </p:sp>
      <p:sp>
        <p:nvSpPr>
          <p:cNvPr id="26" name="Shape 24"/>
          <p:cNvSpPr/>
          <p:nvPr/>
        </p:nvSpPr>
        <p:spPr>
          <a:xfrm>
            <a:off x="6903720" y="5349240"/>
            <a:ext cx="4480560" cy="713232"/>
          </a:xfrm>
          <a:prstGeom prst="roundRect">
            <a:avLst>
              <a:gd name="adj" fmla="val 10256"/>
            </a:avLst>
          </a:prstGeom>
          <a:solidFill>
            <a:srgbClr val="16223B"/>
          </a:solidFill>
          <a:ln w="15875">
            <a:solidFill>
              <a:srgbClr val="FF5C5C"/>
            </a:solidFill>
            <a:prstDash val="solid"/>
          </a:ln>
        </p:spPr>
      </p:sp>
      <p:sp>
        <p:nvSpPr>
          <p:cNvPr id="27" name="Text 25"/>
          <p:cNvSpPr/>
          <p:nvPr/>
        </p:nvSpPr>
        <p:spPr>
          <a:xfrm>
            <a:off x="7086600" y="5404104"/>
            <a:ext cx="2103120" cy="603504"/>
          </a:xfrm>
          <a:prstGeom prst="rect">
            <a:avLst/>
          </a:prstGeom>
          <a:noFill/>
          <a:ln/>
        </p:spPr>
        <p:txBody>
          <a:bodyPr wrap="square" rtlCol="0" anchor="ctr"/>
          <a:lstStyle/>
          <a:p>
            <a:pPr marL="0" indent="0">
              <a:buNone/>
            </a:pPr>
            <a:r>
              <a:rPr lang="en-US" sz="1250" b="1" dirty="0">
                <a:solidFill>
                  <a:srgbClr val="F2F5FA"/>
                </a:solidFill>
                <a:latin typeface="Cambria" pitchFamily="34" charset="0"/>
                <a:ea typeface="Cambria" pitchFamily="34" charset="-122"/>
                <a:cs typeface="Cambria" pitchFamily="34" charset="-120"/>
              </a:rPr>
              <a:t>TOP 5 ACTIONS</a:t>
            </a:r>
            <a:endParaRPr lang="en-US" sz="1250" dirty="0"/>
          </a:p>
        </p:txBody>
      </p:sp>
      <p:sp>
        <p:nvSpPr>
          <p:cNvPr id="28" name="Text 26"/>
          <p:cNvSpPr/>
          <p:nvPr/>
        </p:nvSpPr>
        <p:spPr>
          <a:xfrm>
            <a:off x="9281160" y="5404104"/>
            <a:ext cx="2011680" cy="603504"/>
          </a:xfrm>
          <a:prstGeom prst="rect">
            <a:avLst/>
          </a:prstGeom>
          <a:noFill/>
          <a:ln/>
        </p:spPr>
        <p:txBody>
          <a:bodyPr wrap="square" rtlCol="0" anchor="ctr"/>
          <a:lstStyle/>
          <a:p>
            <a:pPr marL="0" indent="0">
              <a:buNone/>
            </a:pPr>
            <a:r>
              <a:rPr lang="en-US" sz="1000" dirty="0">
                <a:solidFill>
                  <a:srgbClr val="9AA8C0"/>
                </a:solidFill>
                <a:latin typeface="Calibri" pitchFamily="34" charset="0"/>
                <a:ea typeface="Calibri" pitchFamily="34" charset="-122"/>
                <a:cs typeface="Calibri" pitchFamily="34" charset="-120"/>
              </a:rPr>
              <a:t>What · Why · Next step</a:t>
            </a:r>
            <a:endParaRPr lang="en-US" sz="1000" dirty="0"/>
          </a:p>
        </p:txBody>
      </p:sp>
      <p:sp>
        <p:nvSpPr>
          <p:cNvPr id="29" name="Text 27"/>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30" name="Text 28"/>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02 · THE SOLUTION</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One Prototype, One Job</a:t>
            </a:r>
            <a:endParaRPr lang="en-US" sz="3000" dirty="0"/>
          </a:p>
        </p:txBody>
      </p:sp>
      <p:sp>
        <p:nvSpPr>
          <p:cNvPr id="5" name="Text 3"/>
          <p:cNvSpPr/>
          <p:nvPr/>
        </p:nvSpPr>
        <p:spPr>
          <a:xfrm>
            <a:off x="548640" y="1645920"/>
            <a:ext cx="11064240" cy="640080"/>
          </a:xfrm>
          <a:prstGeom prst="rect">
            <a:avLst/>
          </a:prstGeom>
          <a:noFill/>
          <a:ln/>
        </p:spPr>
        <p:txBody>
          <a:bodyPr wrap="square" rtlCol="0" anchor="ctr"/>
          <a:lstStyle/>
          <a:p>
            <a:pPr marL="0" indent="0">
              <a:lnSpc>
                <a:spcPct val="120000"/>
              </a:lnSpc>
              <a:buNone/>
            </a:pPr>
            <a:r>
              <a:rPr lang="en-US" sz="1450" dirty="0">
                <a:solidFill>
                  <a:srgbClr val="9AA8C0"/>
                </a:solidFill>
                <a:latin typeface="Calibri" pitchFamily="34" charset="0"/>
                <a:ea typeface="Calibri" pitchFamily="34" charset="-122"/>
                <a:cs typeface="Calibri" pitchFamily="34" charset="-120"/>
              </a:rPr>
              <a:t>We actually built this. A working Python prototype loads any organisation's risk profile and turns raw CVE data into five items worth caring about — each with a visible reason, a confidence level, and one safe next step.</a:t>
            </a:r>
            <a:endParaRPr lang="en-US" sz="1450" dirty="0"/>
          </a:p>
        </p:txBody>
      </p:sp>
      <p:sp>
        <p:nvSpPr>
          <p:cNvPr id="6" name="Shape 4"/>
          <p:cNvSpPr/>
          <p:nvPr/>
        </p:nvSpPr>
        <p:spPr>
          <a:xfrm>
            <a:off x="548640" y="2514600"/>
            <a:ext cx="3566160" cy="2331720"/>
          </a:xfrm>
          <a:prstGeom prst="roundRect">
            <a:avLst>
              <a:gd name="adj" fmla="val 3922"/>
            </a:avLst>
          </a:prstGeom>
          <a:solidFill>
            <a:srgbClr val="111A2E"/>
          </a:solidFill>
          <a:ln w="12700">
            <a:solidFill>
              <a:srgbClr val="16223B"/>
            </a:solidFill>
            <a:prstDash val="solid"/>
          </a:ln>
        </p:spPr>
      </p:sp>
      <p:sp>
        <p:nvSpPr>
          <p:cNvPr id="7" name="Shape 5"/>
          <p:cNvSpPr/>
          <p:nvPr/>
        </p:nvSpPr>
        <p:spPr>
          <a:xfrm>
            <a:off x="822960" y="2788920"/>
            <a:ext cx="548640" cy="548640"/>
          </a:xfrm>
          <a:prstGeom prst="ellipse">
            <a:avLst/>
          </a:prstGeom>
          <a:solidFill>
            <a:srgbClr val="16223B"/>
          </a:solidFill>
          <a:ln w="15875">
            <a:solidFill>
              <a:srgbClr val="3AA0FF"/>
            </a:solidFill>
            <a:prstDash val="solid"/>
          </a:ln>
        </p:spPr>
      </p:sp>
      <p:sp>
        <p:nvSpPr>
          <p:cNvPr id="8" name="Text 6"/>
          <p:cNvSpPr/>
          <p:nvPr/>
        </p:nvSpPr>
        <p:spPr>
          <a:xfrm>
            <a:off x="822960" y="2788920"/>
            <a:ext cx="548640" cy="548640"/>
          </a:xfrm>
          <a:prstGeom prst="rect">
            <a:avLst/>
          </a:prstGeom>
          <a:noFill/>
          <a:ln/>
        </p:spPr>
        <p:txBody>
          <a:bodyPr wrap="square" rtlCol="0" anchor="ctr"/>
          <a:lstStyle/>
          <a:p>
            <a:pPr marL="0" indent="0" algn="ctr">
              <a:buNone/>
            </a:pPr>
            <a:r>
              <a:rPr lang="en-US" sz="1560" b="1" dirty="0">
                <a:solidFill>
                  <a:srgbClr val="3AA0FF"/>
                </a:solidFill>
                <a:latin typeface="Calibri" pitchFamily="34" charset="0"/>
                <a:ea typeface="Calibri" pitchFamily="34" charset="-122"/>
                <a:cs typeface="Calibri" pitchFamily="34" charset="-120"/>
              </a:rPr>
              <a:t>●</a:t>
            </a:r>
            <a:endParaRPr lang="en-US" sz="1560" dirty="0"/>
          </a:p>
        </p:txBody>
      </p:sp>
      <p:sp>
        <p:nvSpPr>
          <p:cNvPr id="9" name="Text 7"/>
          <p:cNvSpPr/>
          <p:nvPr/>
        </p:nvSpPr>
        <p:spPr>
          <a:xfrm>
            <a:off x="1554480" y="2825496"/>
            <a:ext cx="2377440" cy="457200"/>
          </a:xfrm>
          <a:prstGeom prst="rect">
            <a:avLst/>
          </a:prstGeom>
          <a:noFill/>
          <a:ln/>
        </p:spPr>
        <p:txBody>
          <a:bodyPr wrap="square" rtlCol="0" anchor="ctr"/>
          <a:lstStyle/>
          <a:p>
            <a:pPr marL="0" indent="0">
              <a:buNone/>
            </a:pPr>
            <a:r>
              <a:rPr lang="en-US" sz="1600" b="1" dirty="0">
                <a:solidFill>
                  <a:srgbClr val="F2F5FA"/>
                </a:solidFill>
                <a:latin typeface="Cambria" pitchFamily="34" charset="0"/>
                <a:ea typeface="Cambria" pitchFamily="34" charset="-122"/>
                <a:cs typeface="Cambria" pitchFamily="34" charset="-120"/>
              </a:rPr>
              <a:t>INPUT</a:t>
            </a:r>
            <a:endParaRPr lang="en-US" sz="1600" dirty="0"/>
          </a:p>
        </p:txBody>
      </p:sp>
      <p:sp>
        <p:nvSpPr>
          <p:cNvPr id="10" name="Text 8"/>
          <p:cNvSpPr/>
          <p:nvPr/>
        </p:nvSpPr>
        <p:spPr>
          <a:xfrm>
            <a:off x="822960" y="3474720"/>
            <a:ext cx="3017520" cy="1188720"/>
          </a:xfrm>
          <a:prstGeom prst="rect">
            <a:avLst/>
          </a:prstGeom>
          <a:noFill/>
          <a:ln/>
        </p:spPr>
        <p:txBody>
          <a:bodyPr wrap="square" rtlCol="0" anchor="ctr"/>
          <a:lstStyle/>
          <a:p>
            <a:pPr marL="0" indent="0">
              <a:lnSpc>
                <a:spcPct val="125000"/>
              </a:lnSpc>
              <a:buNone/>
            </a:pPr>
            <a:r>
              <a:rPr lang="en-US" sz="1250" dirty="0">
                <a:solidFill>
                  <a:srgbClr val="9AA8C0"/>
                </a:solidFill>
                <a:latin typeface="Calibri" pitchFamily="34" charset="0"/>
                <a:ea typeface="Calibri" pitchFamily="34" charset="-122"/>
                <a:cs typeface="Calibri" pitchFamily="34" charset="-120"/>
              </a:rPr>
              <a:t>The organiser's real files: 541 CVE-product rows, 3 organisation profiles with their own risk weights, and a practitioner-ranked answer key.</a:t>
            </a:r>
            <a:endParaRPr lang="en-US" sz="1250" dirty="0"/>
          </a:p>
        </p:txBody>
      </p:sp>
      <p:sp>
        <p:nvSpPr>
          <p:cNvPr id="11" name="Shape 9"/>
          <p:cNvSpPr/>
          <p:nvPr/>
        </p:nvSpPr>
        <p:spPr>
          <a:xfrm>
            <a:off x="4370832" y="2514600"/>
            <a:ext cx="3566160" cy="2331720"/>
          </a:xfrm>
          <a:prstGeom prst="roundRect">
            <a:avLst>
              <a:gd name="adj" fmla="val 3922"/>
            </a:avLst>
          </a:prstGeom>
          <a:solidFill>
            <a:srgbClr val="111A2E"/>
          </a:solidFill>
          <a:ln w="12700">
            <a:solidFill>
              <a:srgbClr val="16223B"/>
            </a:solidFill>
            <a:prstDash val="solid"/>
          </a:ln>
        </p:spPr>
      </p:sp>
      <p:sp>
        <p:nvSpPr>
          <p:cNvPr id="12" name="Shape 10"/>
          <p:cNvSpPr/>
          <p:nvPr/>
        </p:nvSpPr>
        <p:spPr>
          <a:xfrm>
            <a:off x="4645152" y="2788920"/>
            <a:ext cx="548640" cy="548640"/>
          </a:xfrm>
          <a:prstGeom prst="ellipse">
            <a:avLst/>
          </a:prstGeom>
          <a:solidFill>
            <a:srgbClr val="16223B"/>
          </a:solidFill>
          <a:ln w="15875">
            <a:solidFill>
              <a:srgbClr val="00E5A0"/>
            </a:solidFill>
            <a:prstDash val="solid"/>
          </a:ln>
        </p:spPr>
      </p:sp>
      <p:sp>
        <p:nvSpPr>
          <p:cNvPr id="13" name="Text 11"/>
          <p:cNvSpPr/>
          <p:nvPr/>
        </p:nvSpPr>
        <p:spPr>
          <a:xfrm>
            <a:off x="4645152" y="2788920"/>
            <a:ext cx="548640" cy="548640"/>
          </a:xfrm>
          <a:prstGeom prst="rect">
            <a:avLst/>
          </a:prstGeom>
          <a:noFill/>
          <a:ln/>
        </p:spPr>
        <p:txBody>
          <a:bodyPr wrap="square" rtlCol="0" anchor="ctr"/>
          <a:lstStyle/>
          <a:p>
            <a:pPr marL="0" indent="0" algn="ctr">
              <a:buNone/>
            </a:pPr>
            <a:r>
              <a:rPr lang="en-US" sz="1560" b="1" dirty="0">
                <a:solidFill>
                  <a:srgbClr val="00E5A0"/>
                </a:solidFill>
                <a:latin typeface="Calibri" pitchFamily="34" charset="0"/>
                <a:ea typeface="Calibri" pitchFamily="34" charset="-122"/>
                <a:cs typeface="Calibri" pitchFamily="34" charset="-120"/>
              </a:rPr>
              <a:t>◆</a:t>
            </a:r>
            <a:endParaRPr lang="en-US" sz="1560" dirty="0"/>
          </a:p>
        </p:txBody>
      </p:sp>
      <p:sp>
        <p:nvSpPr>
          <p:cNvPr id="14" name="Text 12"/>
          <p:cNvSpPr/>
          <p:nvPr/>
        </p:nvSpPr>
        <p:spPr>
          <a:xfrm>
            <a:off x="5376672" y="2825496"/>
            <a:ext cx="2377440" cy="457200"/>
          </a:xfrm>
          <a:prstGeom prst="rect">
            <a:avLst/>
          </a:prstGeom>
          <a:noFill/>
          <a:ln/>
        </p:spPr>
        <p:txBody>
          <a:bodyPr wrap="square" rtlCol="0" anchor="ctr"/>
          <a:lstStyle/>
          <a:p>
            <a:pPr marL="0" indent="0">
              <a:buNone/>
            </a:pPr>
            <a:r>
              <a:rPr lang="en-US" sz="1600" b="1" dirty="0">
                <a:solidFill>
                  <a:srgbClr val="F2F5FA"/>
                </a:solidFill>
                <a:latin typeface="Cambria" pitchFamily="34" charset="0"/>
                <a:ea typeface="Cambria" pitchFamily="34" charset="-122"/>
                <a:cs typeface="Cambria" pitchFamily="34" charset="-120"/>
              </a:rPr>
              <a:t>DECISION</a:t>
            </a:r>
            <a:endParaRPr lang="en-US" sz="1600" dirty="0"/>
          </a:p>
        </p:txBody>
      </p:sp>
      <p:sp>
        <p:nvSpPr>
          <p:cNvPr id="15" name="Text 13"/>
          <p:cNvSpPr/>
          <p:nvPr/>
        </p:nvSpPr>
        <p:spPr>
          <a:xfrm>
            <a:off x="4645152" y="3474720"/>
            <a:ext cx="3017520" cy="1188720"/>
          </a:xfrm>
          <a:prstGeom prst="rect">
            <a:avLst/>
          </a:prstGeom>
          <a:noFill/>
          <a:ln/>
        </p:spPr>
        <p:txBody>
          <a:bodyPr wrap="square" rtlCol="0" anchor="ctr"/>
          <a:lstStyle/>
          <a:p>
            <a:pPr marL="0" indent="0">
              <a:lnSpc>
                <a:spcPct val="125000"/>
              </a:lnSpc>
              <a:buNone/>
            </a:pPr>
            <a:r>
              <a:rPr lang="en-US" sz="1250" dirty="0">
                <a:solidFill>
                  <a:srgbClr val="9AA8C0"/>
                </a:solidFill>
                <a:latin typeface="Calibri" pitchFamily="34" charset="0"/>
                <a:ea typeface="Calibri" pitchFamily="34" charset="-122"/>
                <a:cs typeface="Calibri" pitchFamily="34" charset="-120"/>
              </a:rPr>
              <a:t>Score every CVE against that org's own weighting for severity, confirmed exploitation, and exploit probability — plus a bonus for business-critical assets.</a:t>
            </a:r>
            <a:endParaRPr lang="en-US" sz="1250" dirty="0"/>
          </a:p>
        </p:txBody>
      </p:sp>
      <p:sp>
        <p:nvSpPr>
          <p:cNvPr id="16" name="Shape 14"/>
          <p:cNvSpPr/>
          <p:nvPr/>
        </p:nvSpPr>
        <p:spPr>
          <a:xfrm>
            <a:off x="8193024" y="2514600"/>
            <a:ext cx="3566160" cy="2331720"/>
          </a:xfrm>
          <a:prstGeom prst="roundRect">
            <a:avLst>
              <a:gd name="adj" fmla="val 3922"/>
            </a:avLst>
          </a:prstGeom>
          <a:solidFill>
            <a:srgbClr val="111A2E"/>
          </a:solidFill>
          <a:ln w="12700">
            <a:solidFill>
              <a:srgbClr val="16223B"/>
            </a:solidFill>
            <a:prstDash val="solid"/>
          </a:ln>
        </p:spPr>
      </p:sp>
      <p:sp>
        <p:nvSpPr>
          <p:cNvPr id="17" name="Shape 15"/>
          <p:cNvSpPr/>
          <p:nvPr/>
        </p:nvSpPr>
        <p:spPr>
          <a:xfrm>
            <a:off x="8467344" y="2788920"/>
            <a:ext cx="548640" cy="548640"/>
          </a:xfrm>
          <a:prstGeom prst="ellipse">
            <a:avLst/>
          </a:prstGeom>
          <a:solidFill>
            <a:srgbClr val="16223B"/>
          </a:solidFill>
          <a:ln w="15875">
            <a:solidFill>
              <a:srgbClr val="F4C542"/>
            </a:solidFill>
            <a:prstDash val="solid"/>
          </a:ln>
        </p:spPr>
      </p:sp>
      <p:sp>
        <p:nvSpPr>
          <p:cNvPr id="18" name="Text 16"/>
          <p:cNvSpPr/>
          <p:nvPr/>
        </p:nvSpPr>
        <p:spPr>
          <a:xfrm>
            <a:off x="8467344" y="2788920"/>
            <a:ext cx="548640" cy="548640"/>
          </a:xfrm>
          <a:prstGeom prst="rect">
            <a:avLst/>
          </a:prstGeom>
          <a:noFill/>
          <a:ln/>
        </p:spPr>
        <p:txBody>
          <a:bodyPr wrap="square" rtlCol="0" anchor="ctr"/>
          <a:lstStyle/>
          <a:p>
            <a:pPr marL="0" indent="0" algn="ctr">
              <a:buNone/>
            </a:pPr>
            <a:r>
              <a:rPr lang="en-US" sz="1560" b="1" dirty="0">
                <a:solidFill>
                  <a:srgbClr val="F4C542"/>
                </a:solidFill>
                <a:latin typeface="Calibri" pitchFamily="34" charset="0"/>
                <a:ea typeface="Calibri" pitchFamily="34" charset="-122"/>
                <a:cs typeface="Calibri" pitchFamily="34" charset="-120"/>
              </a:rPr>
              <a:t>▲</a:t>
            </a:r>
            <a:endParaRPr lang="en-US" sz="1560" dirty="0"/>
          </a:p>
        </p:txBody>
      </p:sp>
      <p:sp>
        <p:nvSpPr>
          <p:cNvPr id="19" name="Text 17"/>
          <p:cNvSpPr/>
          <p:nvPr/>
        </p:nvSpPr>
        <p:spPr>
          <a:xfrm>
            <a:off x="9198864" y="2825496"/>
            <a:ext cx="2377440" cy="457200"/>
          </a:xfrm>
          <a:prstGeom prst="rect">
            <a:avLst/>
          </a:prstGeom>
          <a:noFill/>
          <a:ln/>
        </p:spPr>
        <p:txBody>
          <a:bodyPr wrap="square" rtlCol="0" anchor="ctr"/>
          <a:lstStyle/>
          <a:p>
            <a:pPr marL="0" indent="0">
              <a:buNone/>
            </a:pPr>
            <a:r>
              <a:rPr lang="en-US" sz="1600" b="1" dirty="0">
                <a:solidFill>
                  <a:srgbClr val="F2F5FA"/>
                </a:solidFill>
                <a:latin typeface="Cambria" pitchFamily="34" charset="0"/>
                <a:ea typeface="Cambria" pitchFamily="34" charset="-122"/>
                <a:cs typeface="Cambria" pitchFamily="34" charset="-120"/>
              </a:rPr>
              <a:t>OUTPUT</a:t>
            </a:r>
            <a:endParaRPr lang="en-US" sz="1600" dirty="0"/>
          </a:p>
        </p:txBody>
      </p:sp>
      <p:sp>
        <p:nvSpPr>
          <p:cNvPr id="20" name="Text 18"/>
          <p:cNvSpPr/>
          <p:nvPr/>
        </p:nvSpPr>
        <p:spPr>
          <a:xfrm>
            <a:off x="8467344" y="3474720"/>
            <a:ext cx="3017520" cy="1188720"/>
          </a:xfrm>
          <a:prstGeom prst="rect">
            <a:avLst/>
          </a:prstGeom>
          <a:noFill/>
          <a:ln/>
        </p:spPr>
        <p:txBody>
          <a:bodyPr wrap="square" rtlCol="0" anchor="ctr"/>
          <a:lstStyle/>
          <a:p>
            <a:pPr marL="0" indent="0">
              <a:lnSpc>
                <a:spcPct val="125000"/>
              </a:lnSpc>
              <a:buNone/>
            </a:pPr>
            <a:r>
              <a:rPr lang="en-US" sz="1250" dirty="0">
                <a:solidFill>
                  <a:srgbClr val="9AA8C0"/>
                </a:solidFill>
                <a:latin typeface="Calibri" pitchFamily="34" charset="0"/>
                <a:ea typeface="Calibri" pitchFamily="34" charset="-122"/>
                <a:cs typeface="Calibri" pitchFamily="34" charset="-120"/>
              </a:rPr>
              <a:t>A ranked top five, validated against real practitioner rankings — plus a plain-English HTML report anyone can open in a browser.</a:t>
            </a:r>
            <a:endParaRPr lang="en-US" sz="1250" dirty="0"/>
          </a:p>
        </p:txBody>
      </p:sp>
      <p:sp>
        <p:nvSpPr>
          <p:cNvPr id="21" name="Shape 19"/>
          <p:cNvSpPr/>
          <p:nvPr/>
        </p:nvSpPr>
        <p:spPr>
          <a:xfrm>
            <a:off x="548640" y="5074920"/>
            <a:ext cx="11064240" cy="1051560"/>
          </a:xfrm>
          <a:prstGeom prst="roundRect">
            <a:avLst>
              <a:gd name="adj" fmla="val 6957"/>
            </a:avLst>
          </a:prstGeom>
          <a:solidFill>
            <a:srgbClr val="2A1414"/>
          </a:solidFill>
          <a:ln w="12700">
            <a:solidFill>
              <a:srgbClr val="FF5C5C"/>
            </a:solidFill>
            <a:prstDash val="solid"/>
          </a:ln>
        </p:spPr>
      </p:sp>
      <p:sp>
        <p:nvSpPr>
          <p:cNvPr id="22" name="Text 20"/>
          <p:cNvSpPr/>
          <p:nvPr/>
        </p:nvSpPr>
        <p:spPr>
          <a:xfrm>
            <a:off x="777240" y="5193792"/>
            <a:ext cx="10515600" cy="274320"/>
          </a:xfrm>
          <a:prstGeom prst="rect">
            <a:avLst/>
          </a:prstGeom>
          <a:noFill/>
          <a:ln/>
        </p:spPr>
        <p:txBody>
          <a:bodyPr wrap="square" rtlCol="0" anchor="ctr"/>
          <a:lstStyle/>
          <a:p>
            <a:pPr marL="0" indent="0">
              <a:buNone/>
            </a:pPr>
            <a:r>
              <a:rPr lang="en-US" sz="1100" b="1" kern="0" spc="100" dirty="0">
                <a:solidFill>
                  <a:srgbClr val="FF5C5C"/>
                </a:solidFill>
                <a:latin typeface="Calibri" pitchFamily="34" charset="0"/>
                <a:ea typeface="Calibri" pitchFamily="34" charset="-122"/>
                <a:cs typeface="Calibri" pitchFamily="34" charset="-120"/>
              </a:rPr>
              <a:t>THE ANTI-SOLUTION</a:t>
            </a:r>
            <a:endParaRPr lang="en-US" sz="1100" dirty="0"/>
          </a:p>
        </p:txBody>
      </p:sp>
      <p:sp>
        <p:nvSpPr>
          <p:cNvPr id="23" name="Text 21"/>
          <p:cNvSpPr/>
          <p:nvPr/>
        </p:nvSpPr>
        <p:spPr>
          <a:xfrm>
            <a:off x="777240" y="5468112"/>
            <a:ext cx="10515600" cy="548640"/>
          </a:xfrm>
          <a:prstGeom prst="rect">
            <a:avLst/>
          </a:prstGeom>
          <a:noFill/>
          <a:ln/>
        </p:spPr>
        <p:txBody>
          <a:bodyPr wrap="square" rtlCol="0" anchor="ctr"/>
          <a:lstStyle/>
          <a:p>
            <a:pPr marL="0" indent="0">
              <a:buNone/>
            </a:pPr>
            <a:r>
              <a:rPr lang="en-US" sz="1300" i="1" dirty="0">
                <a:solidFill>
                  <a:srgbClr val="F2F5FA"/>
                </a:solidFill>
                <a:latin typeface="Calibri" pitchFamily="34" charset="0"/>
                <a:ea typeface="Calibri" pitchFamily="34" charset="-122"/>
                <a:cs typeface="Calibri" pitchFamily="34" charset="-120"/>
              </a:rPr>
              <a:t>A global CVE table sorted only by CVSS is not personalised threat intelligence. We proved it: our data's highest possible severity score (a perfect 10.0) doesn't even crack one organisation's top five.</a:t>
            </a:r>
            <a:endParaRPr lang="en-US" sz="1300" dirty="0"/>
          </a:p>
        </p:txBody>
      </p:sp>
      <p:sp>
        <p:nvSpPr>
          <p:cNvPr id="24" name="Text 22"/>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25" name="Text 23"/>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03 · DATA &amp; PIPELINE</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Working From the Real Starter Pack</a:t>
            </a:r>
            <a:endParaRPr lang="en-US" sz="3000" dirty="0"/>
          </a:p>
        </p:txBody>
      </p:sp>
      <p:sp>
        <p:nvSpPr>
          <p:cNvPr id="5" name="Text 3"/>
          <p:cNvSpPr/>
          <p:nvPr/>
        </p:nvSpPr>
        <p:spPr>
          <a:xfrm>
            <a:off x="548640" y="1645920"/>
            <a:ext cx="11064240" cy="548640"/>
          </a:xfrm>
          <a:prstGeom prst="rect">
            <a:avLst/>
          </a:prstGeom>
          <a:noFill/>
          <a:ln/>
        </p:spPr>
        <p:txBody>
          <a:bodyPr wrap="square" rtlCol="0" anchor="ctr"/>
          <a:lstStyle/>
          <a:p>
            <a:pPr marL="0" indent="0">
              <a:buNone/>
            </a:pPr>
            <a:r>
              <a:rPr lang="en-US" sz="1400" dirty="0">
                <a:solidFill>
                  <a:srgbClr val="9AA8C0"/>
                </a:solidFill>
                <a:latin typeface="Calibri" pitchFamily="34" charset="0"/>
                <a:ea typeface="Calibri" pitchFamily="34" charset="-122"/>
                <a:cs typeface="Calibri" pitchFamily="34" charset="-120"/>
              </a:rPr>
              <a:t>The organiser's real files use a simpler schema than the brief's example — no vendor or version fields at all. We built directly against what we were actually given, not the illustrative example.</a:t>
            </a:r>
            <a:endParaRPr lang="en-US" sz="1400" dirty="0"/>
          </a:p>
        </p:txBody>
      </p:sp>
      <p:sp>
        <p:nvSpPr>
          <p:cNvPr id="6" name="Shape 4"/>
          <p:cNvSpPr/>
          <p:nvPr/>
        </p:nvSpPr>
        <p:spPr>
          <a:xfrm>
            <a:off x="548640" y="2377440"/>
            <a:ext cx="2103120" cy="1234440"/>
          </a:xfrm>
          <a:prstGeom prst="roundRect">
            <a:avLst>
              <a:gd name="adj" fmla="val 5926"/>
            </a:avLst>
          </a:prstGeom>
          <a:solidFill>
            <a:srgbClr val="16223B"/>
          </a:solidFill>
          <a:ln w="19050">
            <a:solidFill>
              <a:srgbClr val="3AA0FF"/>
            </a:solidFill>
            <a:prstDash val="solid"/>
          </a:ln>
        </p:spPr>
      </p:sp>
      <p:sp>
        <p:nvSpPr>
          <p:cNvPr id="7" name="Text 5"/>
          <p:cNvSpPr/>
          <p:nvPr/>
        </p:nvSpPr>
        <p:spPr>
          <a:xfrm>
            <a:off x="548640" y="2487168"/>
            <a:ext cx="2103120" cy="365760"/>
          </a:xfrm>
          <a:prstGeom prst="rect">
            <a:avLst/>
          </a:prstGeom>
          <a:noFill/>
          <a:ln/>
        </p:spPr>
        <p:txBody>
          <a:bodyPr wrap="square" rtlCol="0" anchor="ctr"/>
          <a:lstStyle/>
          <a:p>
            <a:pPr marL="0" indent="0" algn="ctr">
              <a:buNone/>
            </a:pPr>
            <a:r>
              <a:rPr lang="en-US" sz="1500" b="1" dirty="0">
                <a:solidFill>
                  <a:srgbClr val="3AA0FF"/>
                </a:solidFill>
                <a:latin typeface="Cambria" pitchFamily="34" charset="0"/>
                <a:ea typeface="Cambria" pitchFamily="34" charset="-122"/>
                <a:cs typeface="Cambria" pitchFamily="34" charset="-120"/>
              </a:rPr>
              <a:t>LOAD</a:t>
            </a:r>
            <a:endParaRPr lang="en-US" sz="1500" dirty="0"/>
          </a:p>
        </p:txBody>
      </p:sp>
      <p:sp>
        <p:nvSpPr>
          <p:cNvPr id="8" name="Text 6"/>
          <p:cNvSpPr/>
          <p:nvPr/>
        </p:nvSpPr>
        <p:spPr>
          <a:xfrm>
            <a:off x="64008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Starter CSV +</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profile JSON</a:t>
            </a:r>
            <a:endParaRPr lang="en-US" sz="1050" dirty="0"/>
          </a:p>
        </p:txBody>
      </p:sp>
      <p:sp>
        <p:nvSpPr>
          <p:cNvPr id="9" name="Text 7"/>
          <p:cNvSpPr/>
          <p:nvPr/>
        </p:nvSpPr>
        <p:spPr>
          <a:xfrm>
            <a:off x="2633472" y="2788920"/>
            <a:ext cx="457200" cy="457200"/>
          </a:xfrm>
          <a:prstGeom prst="rect">
            <a:avLst/>
          </a:prstGeom>
          <a:noFill/>
          <a:ln/>
        </p:spPr>
        <p:txBody>
          <a:bodyPr wrap="square" rtlCol="0" anchor="ctr"/>
          <a:lstStyle/>
          <a:p>
            <a:pPr marL="0" indent="0" algn="ctr">
              <a:buNone/>
            </a:pPr>
            <a:r>
              <a:rPr lang="en-US" sz="1600" b="1" dirty="0">
                <a:solidFill>
                  <a:srgbClr val="9AA8C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788920" y="2377440"/>
            <a:ext cx="2103120" cy="1234440"/>
          </a:xfrm>
          <a:prstGeom prst="roundRect">
            <a:avLst>
              <a:gd name="adj" fmla="val 5926"/>
            </a:avLst>
          </a:prstGeom>
          <a:solidFill>
            <a:srgbClr val="16223B"/>
          </a:solidFill>
          <a:ln w="19050">
            <a:solidFill>
              <a:srgbClr val="00E5A0"/>
            </a:solidFill>
            <a:prstDash val="solid"/>
          </a:ln>
        </p:spPr>
      </p:sp>
      <p:sp>
        <p:nvSpPr>
          <p:cNvPr id="11" name="Text 9"/>
          <p:cNvSpPr/>
          <p:nvPr/>
        </p:nvSpPr>
        <p:spPr>
          <a:xfrm>
            <a:off x="2788920" y="2487168"/>
            <a:ext cx="2103120" cy="365760"/>
          </a:xfrm>
          <a:prstGeom prst="rect">
            <a:avLst/>
          </a:prstGeom>
          <a:noFill/>
          <a:ln/>
        </p:spPr>
        <p:txBody>
          <a:bodyPr wrap="square" rtlCol="0" anchor="ctr"/>
          <a:lstStyle/>
          <a:p>
            <a:pPr marL="0" indent="0" algn="ctr">
              <a:buNone/>
            </a:pPr>
            <a:r>
              <a:rPr lang="en-US" sz="1500" b="1" dirty="0">
                <a:solidFill>
                  <a:srgbClr val="00E5A0"/>
                </a:solidFill>
                <a:latin typeface="Cambria" pitchFamily="34" charset="0"/>
                <a:ea typeface="Cambria" pitchFamily="34" charset="-122"/>
                <a:cs typeface="Cambria" pitchFamily="34" charset="-120"/>
              </a:rPr>
              <a:t>SCORE</a:t>
            </a:r>
            <a:endParaRPr lang="en-US" sz="1500" dirty="0"/>
          </a:p>
        </p:txBody>
      </p:sp>
      <p:sp>
        <p:nvSpPr>
          <p:cNvPr id="12" name="Text 10"/>
          <p:cNvSpPr/>
          <p:nvPr/>
        </p:nvSpPr>
        <p:spPr>
          <a:xfrm>
            <a:off x="288036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CVSS + KEV +</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EPSS, weighted</a:t>
            </a:r>
            <a:endParaRPr lang="en-US" sz="1050" dirty="0"/>
          </a:p>
        </p:txBody>
      </p:sp>
      <p:sp>
        <p:nvSpPr>
          <p:cNvPr id="13" name="Text 11"/>
          <p:cNvSpPr/>
          <p:nvPr/>
        </p:nvSpPr>
        <p:spPr>
          <a:xfrm>
            <a:off x="4873752" y="2788920"/>
            <a:ext cx="457200" cy="457200"/>
          </a:xfrm>
          <a:prstGeom prst="rect">
            <a:avLst/>
          </a:prstGeom>
          <a:noFill/>
          <a:ln/>
        </p:spPr>
        <p:txBody>
          <a:bodyPr wrap="square" rtlCol="0" anchor="ctr"/>
          <a:lstStyle/>
          <a:p>
            <a:pPr marL="0" indent="0" algn="ctr">
              <a:buNone/>
            </a:pPr>
            <a:r>
              <a:rPr lang="en-US" sz="1600" b="1" dirty="0">
                <a:solidFill>
                  <a:srgbClr val="9AA8C0"/>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5029200" y="2377440"/>
            <a:ext cx="2103120" cy="1234440"/>
          </a:xfrm>
          <a:prstGeom prst="roundRect">
            <a:avLst>
              <a:gd name="adj" fmla="val 5926"/>
            </a:avLst>
          </a:prstGeom>
          <a:solidFill>
            <a:srgbClr val="16223B"/>
          </a:solidFill>
          <a:ln w="19050">
            <a:solidFill>
              <a:srgbClr val="F4C542"/>
            </a:solidFill>
            <a:prstDash val="solid"/>
          </a:ln>
        </p:spPr>
      </p:sp>
      <p:sp>
        <p:nvSpPr>
          <p:cNvPr id="15" name="Text 13"/>
          <p:cNvSpPr/>
          <p:nvPr/>
        </p:nvSpPr>
        <p:spPr>
          <a:xfrm>
            <a:off x="5029200" y="2487168"/>
            <a:ext cx="2103120" cy="365760"/>
          </a:xfrm>
          <a:prstGeom prst="rect">
            <a:avLst/>
          </a:prstGeom>
          <a:noFill/>
          <a:ln/>
        </p:spPr>
        <p:txBody>
          <a:bodyPr wrap="square" rtlCol="0" anchor="ctr"/>
          <a:lstStyle/>
          <a:p>
            <a:pPr marL="0" indent="0" algn="ctr">
              <a:buNone/>
            </a:pPr>
            <a:r>
              <a:rPr lang="en-US" sz="1500" b="1" dirty="0">
                <a:solidFill>
                  <a:srgbClr val="F4C542"/>
                </a:solidFill>
                <a:latin typeface="Cambria" pitchFamily="34" charset="0"/>
                <a:ea typeface="Cambria" pitchFamily="34" charset="-122"/>
                <a:cs typeface="Cambria" pitchFamily="34" charset="-120"/>
              </a:rPr>
              <a:t>RANK</a:t>
            </a:r>
            <a:endParaRPr lang="en-US" sz="1500" dirty="0"/>
          </a:p>
        </p:txBody>
      </p:sp>
      <p:sp>
        <p:nvSpPr>
          <p:cNvPr id="16" name="Text 14"/>
          <p:cNvSpPr/>
          <p:nvPr/>
        </p:nvSpPr>
        <p:spPr>
          <a:xfrm>
            <a:off x="512064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3+ visible</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priority signals</a:t>
            </a:r>
            <a:endParaRPr lang="en-US" sz="1050" dirty="0"/>
          </a:p>
        </p:txBody>
      </p:sp>
      <p:sp>
        <p:nvSpPr>
          <p:cNvPr id="17" name="Text 15"/>
          <p:cNvSpPr/>
          <p:nvPr/>
        </p:nvSpPr>
        <p:spPr>
          <a:xfrm>
            <a:off x="7114032" y="2788920"/>
            <a:ext cx="457200" cy="457200"/>
          </a:xfrm>
          <a:prstGeom prst="rect">
            <a:avLst/>
          </a:prstGeom>
          <a:noFill/>
          <a:ln/>
        </p:spPr>
        <p:txBody>
          <a:bodyPr wrap="square" rtlCol="0" anchor="ctr"/>
          <a:lstStyle/>
          <a:p>
            <a:pPr marL="0" indent="0" algn="ctr">
              <a:buNone/>
            </a:pPr>
            <a:r>
              <a:rPr lang="en-US" sz="1600" b="1" dirty="0">
                <a:solidFill>
                  <a:srgbClr val="9AA8C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7269480" y="2377440"/>
            <a:ext cx="2103120" cy="1234440"/>
          </a:xfrm>
          <a:prstGeom prst="roundRect">
            <a:avLst>
              <a:gd name="adj" fmla="val 5926"/>
            </a:avLst>
          </a:prstGeom>
          <a:solidFill>
            <a:srgbClr val="16223B"/>
          </a:solidFill>
          <a:ln w="19050">
            <a:solidFill>
              <a:srgbClr val="FF9E4A"/>
            </a:solidFill>
            <a:prstDash val="solid"/>
          </a:ln>
        </p:spPr>
      </p:sp>
      <p:sp>
        <p:nvSpPr>
          <p:cNvPr id="19" name="Text 17"/>
          <p:cNvSpPr/>
          <p:nvPr/>
        </p:nvSpPr>
        <p:spPr>
          <a:xfrm>
            <a:off x="7269480" y="2487168"/>
            <a:ext cx="2103120" cy="365760"/>
          </a:xfrm>
          <a:prstGeom prst="rect">
            <a:avLst/>
          </a:prstGeom>
          <a:noFill/>
          <a:ln/>
        </p:spPr>
        <p:txBody>
          <a:bodyPr wrap="square" rtlCol="0" anchor="ctr"/>
          <a:lstStyle/>
          <a:p>
            <a:pPr marL="0" indent="0" algn="ctr">
              <a:buNone/>
            </a:pPr>
            <a:r>
              <a:rPr lang="en-US" sz="1500" b="1" dirty="0">
                <a:solidFill>
                  <a:srgbClr val="FF9E4A"/>
                </a:solidFill>
                <a:latin typeface="Cambria" pitchFamily="34" charset="0"/>
                <a:ea typeface="Cambria" pitchFamily="34" charset="-122"/>
                <a:cs typeface="Cambria" pitchFamily="34" charset="-120"/>
              </a:rPr>
              <a:t>EXPLAIN</a:t>
            </a:r>
            <a:endParaRPr lang="en-US" sz="1500" dirty="0"/>
          </a:p>
        </p:txBody>
      </p:sp>
      <p:sp>
        <p:nvSpPr>
          <p:cNvPr id="20" name="Text 18"/>
          <p:cNvSpPr/>
          <p:nvPr/>
        </p:nvSpPr>
        <p:spPr>
          <a:xfrm>
            <a:off x="736092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Evidence +</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safe next step</a:t>
            </a:r>
            <a:endParaRPr lang="en-US" sz="1050" dirty="0"/>
          </a:p>
        </p:txBody>
      </p:sp>
      <p:sp>
        <p:nvSpPr>
          <p:cNvPr id="21" name="Text 19"/>
          <p:cNvSpPr/>
          <p:nvPr/>
        </p:nvSpPr>
        <p:spPr>
          <a:xfrm>
            <a:off x="9354312" y="2788920"/>
            <a:ext cx="457200" cy="457200"/>
          </a:xfrm>
          <a:prstGeom prst="rect">
            <a:avLst/>
          </a:prstGeom>
          <a:noFill/>
          <a:ln/>
        </p:spPr>
        <p:txBody>
          <a:bodyPr wrap="square" rtlCol="0" anchor="ctr"/>
          <a:lstStyle/>
          <a:p>
            <a:pPr marL="0" indent="0" algn="ctr">
              <a:buNone/>
            </a:pPr>
            <a:r>
              <a:rPr lang="en-US" sz="1600" b="1" dirty="0">
                <a:solidFill>
                  <a:srgbClr val="9AA8C0"/>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9509760" y="2377440"/>
            <a:ext cx="2103120" cy="1234440"/>
          </a:xfrm>
          <a:prstGeom prst="roundRect">
            <a:avLst>
              <a:gd name="adj" fmla="val 5926"/>
            </a:avLst>
          </a:prstGeom>
          <a:solidFill>
            <a:srgbClr val="16223B"/>
          </a:solidFill>
          <a:ln w="19050">
            <a:solidFill>
              <a:srgbClr val="FF5C5C"/>
            </a:solidFill>
            <a:prstDash val="solid"/>
          </a:ln>
        </p:spPr>
      </p:sp>
      <p:sp>
        <p:nvSpPr>
          <p:cNvPr id="23" name="Text 21"/>
          <p:cNvSpPr/>
          <p:nvPr/>
        </p:nvSpPr>
        <p:spPr>
          <a:xfrm>
            <a:off x="9509760" y="2487168"/>
            <a:ext cx="2103120" cy="365760"/>
          </a:xfrm>
          <a:prstGeom prst="rect">
            <a:avLst/>
          </a:prstGeom>
          <a:noFill/>
          <a:ln/>
        </p:spPr>
        <p:txBody>
          <a:bodyPr wrap="square" rtlCol="0" anchor="ctr"/>
          <a:lstStyle/>
          <a:p>
            <a:pPr marL="0" indent="0" algn="ctr">
              <a:buNone/>
            </a:pPr>
            <a:r>
              <a:rPr lang="en-US" sz="1500" b="1" dirty="0">
                <a:solidFill>
                  <a:srgbClr val="FF5C5C"/>
                </a:solidFill>
                <a:latin typeface="Cambria" pitchFamily="34" charset="0"/>
                <a:ea typeface="Cambria" pitchFamily="34" charset="-122"/>
                <a:cs typeface="Cambria" pitchFamily="34" charset="-120"/>
              </a:rPr>
              <a:t>PRESENT</a:t>
            </a:r>
            <a:endParaRPr lang="en-US" sz="1500" dirty="0"/>
          </a:p>
        </p:txBody>
      </p:sp>
      <p:sp>
        <p:nvSpPr>
          <p:cNvPr id="24" name="Text 22"/>
          <p:cNvSpPr/>
          <p:nvPr/>
        </p:nvSpPr>
        <p:spPr>
          <a:xfrm>
            <a:off x="960120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Top 5,</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source-linked</a:t>
            </a:r>
            <a:endParaRPr lang="en-US" sz="1050" dirty="0"/>
          </a:p>
        </p:txBody>
      </p:sp>
      <p:sp>
        <p:nvSpPr>
          <p:cNvPr id="25" name="Text 23"/>
          <p:cNvSpPr/>
          <p:nvPr/>
        </p:nvSpPr>
        <p:spPr>
          <a:xfrm>
            <a:off x="548640" y="3977640"/>
            <a:ext cx="457200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FILES PROVIDED</a:t>
            </a:r>
            <a:endParaRPr lang="en-US" sz="1100" dirty="0"/>
          </a:p>
        </p:txBody>
      </p:sp>
      <p:sp>
        <p:nvSpPr>
          <p:cNvPr id="26" name="Shape 24"/>
          <p:cNvSpPr/>
          <p:nvPr/>
        </p:nvSpPr>
        <p:spPr>
          <a:xfrm>
            <a:off x="548640" y="4297680"/>
            <a:ext cx="7040880" cy="621792"/>
          </a:xfrm>
          <a:prstGeom prst="roundRect">
            <a:avLst>
              <a:gd name="adj" fmla="val 8824"/>
            </a:avLst>
          </a:prstGeom>
          <a:solidFill>
            <a:srgbClr val="111A2E"/>
          </a:solidFill>
          <a:ln w="9525">
            <a:solidFill>
              <a:srgbClr val="16223B"/>
            </a:solidFill>
            <a:prstDash val="solid"/>
          </a:ln>
        </p:spPr>
      </p:sp>
      <p:sp>
        <p:nvSpPr>
          <p:cNvPr id="27" name="Text 25"/>
          <p:cNvSpPr/>
          <p:nvPr/>
        </p:nvSpPr>
        <p:spPr>
          <a:xfrm>
            <a:off x="731520" y="4297680"/>
            <a:ext cx="1920240" cy="621792"/>
          </a:xfrm>
          <a:prstGeom prst="rect">
            <a:avLst/>
          </a:prstGeom>
          <a:noFill/>
          <a:ln/>
        </p:spPr>
        <p:txBody>
          <a:bodyPr wrap="square" rtlCol="0" anchor="ctr"/>
          <a:lstStyle/>
          <a:p>
            <a:pPr marL="0" indent="0">
              <a:buNone/>
            </a:pPr>
            <a:r>
              <a:rPr lang="en-US" sz="1200" b="1" dirty="0">
                <a:solidFill>
                  <a:srgbClr val="3AA0FF"/>
                </a:solidFill>
                <a:latin typeface="Calibri" pitchFamily="34" charset="0"/>
                <a:ea typeface="Calibri" pitchFamily="34" charset="-122"/>
                <a:cs typeface="Calibri" pitchFamily="34" charset="-120"/>
              </a:rPr>
              <a:t>vulnerabilities.csv</a:t>
            </a:r>
            <a:endParaRPr lang="en-US" sz="1200" dirty="0"/>
          </a:p>
        </p:txBody>
      </p:sp>
      <p:sp>
        <p:nvSpPr>
          <p:cNvPr id="28" name="Text 26"/>
          <p:cNvSpPr/>
          <p:nvPr/>
        </p:nvSpPr>
        <p:spPr>
          <a:xfrm>
            <a:off x="2697480" y="4297680"/>
            <a:ext cx="4800600" cy="621792"/>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541 real rows: CVE ID, product, CVSS, KEV flag, EPSS score</a:t>
            </a:r>
            <a:endParaRPr lang="en-US" sz="1050" dirty="0"/>
          </a:p>
        </p:txBody>
      </p:sp>
      <p:sp>
        <p:nvSpPr>
          <p:cNvPr id="29" name="Shape 27"/>
          <p:cNvSpPr/>
          <p:nvPr/>
        </p:nvSpPr>
        <p:spPr>
          <a:xfrm>
            <a:off x="548640" y="5010912"/>
            <a:ext cx="7040880" cy="621792"/>
          </a:xfrm>
          <a:prstGeom prst="roundRect">
            <a:avLst>
              <a:gd name="adj" fmla="val 8824"/>
            </a:avLst>
          </a:prstGeom>
          <a:solidFill>
            <a:srgbClr val="111A2E"/>
          </a:solidFill>
          <a:ln w="9525">
            <a:solidFill>
              <a:srgbClr val="16223B"/>
            </a:solidFill>
            <a:prstDash val="solid"/>
          </a:ln>
        </p:spPr>
      </p:sp>
      <p:sp>
        <p:nvSpPr>
          <p:cNvPr id="30" name="Text 28"/>
          <p:cNvSpPr/>
          <p:nvPr/>
        </p:nvSpPr>
        <p:spPr>
          <a:xfrm>
            <a:off x="731520" y="5010912"/>
            <a:ext cx="1920240" cy="621792"/>
          </a:xfrm>
          <a:prstGeom prst="rect">
            <a:avLst/>
          </a:prstGeom>
          <a:noFill/>
          <a:ln/>
        </p:spPr>
        <p:txBody>
          <a:bodyPr wrap="square" rtlCol="0" anchor="ctr"/>
          <a:lstStyle/>
          <a:p>
            <a:pPr marL="0" indent="0">
              <a:buNone/>
            </a:pPr>
            <a:r>
              <a:rPr lang="en-US" sz="1200" b="1" dirty="0">
                <a:solidFill>
                  <a:srgbClr val="3AA0FF"/>
                </a:solidFill>
                <a:latin typeface="Calibri" pitchFamily="34" charset="0"/>
                <a:ea typeface="Calibri" pitchFamily="34" charset="-122"/>
                <a:cs typeface="Calibri" pitchFamily="34" charset="-120"/>
              </a:rPr>
              <a:t>profiles.json</a:t>
            </a:r>
            <a:endParaRPr lang="en-US" sz="1200" dirty="0"/>
          </a:p>
        </p:txBody>
      </p:sp>
      <p:sp>
        <p:nvSpPr>
          <p:cNvPr id="31" name="Text 29"/>
          <p:cNvSpPr/>
          <p:nvPr/>
        </p:nvSpPr>
        <p:spPr>
          <a:xfrm>
            <a:off x="2697480" y="5010912"/>
            <a:ext cx="4800600" cy="621792"/>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3 real orgs, each with its own risk weights + critical assets</a:t>
            </a:r>
            <a:endParaRPr lang="en-US" sz="1050" dirty="0"/>
          </a:p>
        </p:txBody>
      </p:sp>
      <p:sp>
        <p:nvSpPr>
          <p:cNvPr id="32" name="Shape 30"/>
          <p:cNvSpPr/>
          <p:nvPr/>
        </p:nvSpPr>
        <p:spPr>
          <a:xfrm>
            <a:off x="548640" y="5724144"/>
            <a:ext cx="7040880" cy="621792"/>
          </a:xfrm>
          <a:prstGeom prst="roundRect">
            <a:avLst>
              <a:gd name="adj" fmla="val 8824"/>
            </a:avLst>
          </a:prstGeom>
          <a:solidFill>
            <a:srgbClr val="111A2E"/>
          </a:solidFill>
          <a:ln w="9525">
            <a:solidFill>
              <a:srgbClr val="16223B"/>
            </a:solidFill>
            <a:prstDash val="solid"/>
          </a:ln>
        </p:spPr>
      </p:sp>
      <p:sp>
        <p:nvSpPr>
          <p:cNvPr id="33" name="Text 31"/>
          <p:cNvSpPr/>
          <p:nvPr/>
        </p:nvSpPr>
        <p:spPr>
          <a:xfrm>
            <a:off x="731520" y="5724144"/>
            <a:ext cx="1920240" cy="621792"/>
          </a:xfrm>
          <a:prstGeom prst="rect">
            <a:avLst/>
          </a:prstGeom>
          <a:noFill/>
          <a:ln/>
        </p:spPr>
        <p:txBody>
          <a:bodyPr wrap="square" rtlCol="0" anchor="ctr"/>
          <a:lstStyle/>
          <a:p>
            <a:pPr marL="0" indent="0">
              <a:buNone/>
            </a:pPr>
            <a:r>
              <a:rPr lang="en-US" sz="1200" b="1" dirty="0">
                <a:solidFill>
                  <a:srgbClr val="3AA0FF"/>
                </a:solidFill>
                <a:latin typeface="Calibri" pitchFamily="34" charset="0"/>
                <a:ea typeface="Calibri" pitchFamily="34" charset="-122"/>
                <a:cs typeface="Calibri" pitchFamily="34" charset="-120"/>
              </a:rPr>
              <a:t>gold_set.csv</a:t>
            </a:r>
            <a:endParaRPr lang="en-US" sz="1200" dirty="0"/>
          </a:p>
        </p:txBody>
      </p:sp>
      <p:sp>
        <p:nvSpPr>
          <p:cNvPr id="34" name="Text 32"/>
          <p:cNvSpPr/>
          <p:nvPr/>
        </p:nvSpPr>
        <p:spPr>
          <a:xfrm>
            <a:off x="2697480" y="5724144"/>
            <a:ext cx="4800600" cy="621792"/>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5 CVEs, ranked by real practitioners — we validated against it</a:t>
            </a:r>
            <a:endParaRPr lang="en-US" sz="1050" dirty="0"/>
          </a:p>
        </p:txBody>
      </p:sp>
      <p:sp>
        <p:nvSpPr>
          <p:cNvPr id="35" name="Text 33"/>
          <p:cNvSpPr/>
          <p:nvPr/>
        </p:nvSpPr>
        <p:spPr>
          <a:xfrm>
            <a:off x="7818120" y="3977640"/>
            <a:ext cx="365760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FOUR TERMS</a:t>
            </a:r>
            <a:endParaRPr lang="en-US" sz="1100" dirty="0"/>
          </a:p>
        </p:txBody>
      </p:sp>
      <p:sp>
        <p:nvSpPr>
          <p:cNvPr id="36" name="Shape 34"/>
          <p:cNvSpPr/>
          <p:nvPr/>
        </p:nvSpPr>
        <p:spPr>
          <a:xfrm>
            <a:off x="7818120" y="4297680"/>
            <a:ext cx="3794760" cy="566928"/>
          </a:xfrm>
          <a:prstGeom prst="roundRect">
            <a:avLst>
              <a:gd name="adj" fmla="val 9677"/>
            </a:avLst>
          </a:prstGeom>
          <a:solidFill>
            <a:srgbClr val="111A2E"/>
          </a:solidFill>
          <a:ln w="9525">
            <a:solidFill>
              <a:srgbClr val="16223B"/>
            </a:solidFill>
            <a:prstDash val="solid"/>
          </a:ln>
        </p:spPr>
      </p:sp>
      <p:sp>
        <p:nvSpPr>
          <p:cNvPr id="37" name="Text 35"/>
          <p:cNvSpPr/>
          <p:nvPr/>
        </p:nvSpPr>
        <p:spPr>
          <a:xfrm>
            <a:off x="7955280" y="4297680"/>
            <a:ext cx="914400" cy="566928"/>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CVE</a:t>
            </a:r>
            <a:endParaRPr lang="en-US" sz="1300" dirty="0"/>
          </a:p>
        </p:txBody>
      </p:sp>
      <p:sp>
        <p:nvSpPr>
          <p:cNvPr id="38" name="Text 36"/>
          <p:cNvSpPr/>
          <p:nvPr/>
        </p:nvSpPr>
        <p:spPr>
          <a:xfrm>
            <a:off x="8915400" y="4297680"/>
            <a:ext cx="2606040" cy="566928"/>
          </a:xfrm>
          <a:prstGeom prst="rect">
            <a:avLst/>
          </a:prstGeom>
          <a:noFill/>
          <a:ln/>
        </p:spPr>
        <p:txBody>
          <a:bodyPr wrap="square" rtlCol="0" anchor="ctr"/>
          <a:lstStyle/>
          <a:p>
            <a:pPr marL="0" indent="0">
              <a:buNone/>
            </a:pPr>
            <a:r>
              <a:rPr lang="en-US" sz="950" dirty="0">
                <a:solidFill>
                  <a:srgbClr val="F2F5FA"/>
                </a:solidFill>
                <a:latin typeface="Calibri" pitchFamily="34" charset="0"/>
                <a:ea typeface="Calibri" pitchFamily="34" charset="-122"/>
                <a:cs typeface="Calibri" pitchFamily="34" charset="-120"/>
              </a:rPr>
              <a:t>Public case number for one vulnerability</a:t>
            </a:r>
            <a:endParaRPr lang="en-US" sz="950" dirty="0"/>
          </a:p>
        </p:txBody>
      </p:sp>
      <p:sp>
        <p:nvSpPr>
          <p:cNvPr id="39" name="Shape 37"/>
          <p:cNvSpPr/>
          <p:nvPr/>
        </p:nvSpPr>
        <p:spPr>
          <a:xfrm>
            <a:off x="7818120" y="4956048"/>
            <a:ext cx="3794760" cy="566928"/>
          </a:xfrm>
          <a:prstGeom prst="roundRect">
            <a:avLst>
              <a:gd name="adj" fmla="val 9677"/>
            </a:avLst>
          </a:prstGeom>
          <a:solidFill>
            <a:srgbClr val="111A2E"/>
          </a:solidFill>
          <a:ln w="9525">
            <a:solidFill>
              <a:srgbClr val="16223B"/>
            </a:solidFill>
            <a:prstDash val="solid"/>
          </a:ln>
        </p:spPr>
      </p:sp>
      <p:sp>
        <p:nvSpPr>
          <p:cNvPr id="40" name="Text 38"/>
          <p:cNvSpPr/>
          <p:nvPr/>
        </p:nvSpPr>
        <p:spPr>
          <a:xfrm>
            <a:off x="7955280" y="4956048"/>
            <a:ext cx="914400" cy="566928"/>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CVSS</a:t>
            </a:r>
            <a:endParaRPr lang="en-US" sz="1300" dirty="0"/>
          </a:p>
        </p:txBody>
      </p:sp>
      <p:sp>
        <p:nvSpPr>
          <p:cNvPr id="41" name="Text 39"/>
          <p:cNvSpPr/>
          <p:nvPr/>
        </p:nvSpPr>
        <p:spPr>
          <a:xfrm>
            <a:off x="8915400" y="4956048"/>
            <a:ext cx="2606040" cy="566928"/>
          </a:xfrm>
          <a:prstGeom prst="rect">
            <a:avLst/>
          </a:prstGeom>
          <a:noFill/>
          <a:ln/>
        </p:spPr>
        <p:txBody>
          <a:bodyPr wrap="square" rtlCol="0" anchor="ctr"/>
          <a:lstStyle/>
          <a:p>
            <a:pPr marL="0" indent="0">
              <a:buNone/>
            </a:pPr>
            <a:r>
              <a:rPr lang="en-US" sz="950" dirty="0">
                <a:solidFill>
                  <a:srgbClr val="F2F5FA"/>
                </a:solidFill>
                <a:latin typeface="Calibri" pitchFamily="34" charset="0"/>
                <a:ea typeface="Calibri" pitchFamily="34" charset="-122"/>
                <a:cs typeface="Calibri" pitchFamily="34" charset="-120"/>
              </a:rPr>
              <a:t>Technical severity 0–10; doesn't know your org</a:t>
            </a:r>
            <a:endParaRPr lang="en-US" sz="950" dirty="0"/>
          </a:p>
        </p:txBody>
      </p:sp>
      <p:sp>
        <p:nvSpPr>
          <p:cNvPr id="42" name="Shape 40"/>
          <p:cNvSpPr/>
          <p:nvPr/>
        </p:nvSpPr>
        <p:spPr>
          <a:xfrm>
            <a:off x="7818120" y="5614416"/>
            <a:ext cx="3794760" cy="566928"/>
          </a:xfrm>
          <a:prstGeom prst="roundRect">
            <a:avLst>
              <a:gd name="adj" fmla="val 9677"/>
            </a:avLst>
          </a:prstGeom>
          <a:solidFill>
            <a:srgbClr val="111A2E"/>
          </a:solidFill>
          <a:ln w="9525">
            <a:solidFill>
              <a:srgbClr val="16223B"/>
            </a:solidFill>
            <a:prstDash val="solid"/>
          </a:ln>
        </p:spPr>
      </p:sp>
      <p:sp>
        <p:nvSpPr>
          <p:cNvPr id="43" name="Text 41"/>
          <p:cNvSpPr/>
          <p:nvPr/>
        </p:nvSpPr>
        <p:spPr>
          <a:xfrm>
            <a:off x="7955280" y="5614416"/>
            <a:ext cx="914400" cy="566928"/>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KEV</a:t>
            </a:r>
            <a:endParaRPr lang="en-US" sz="1300" dirty="0"/>
          </a:p>
        </p:txBody>
      </p:sp>
      <p:sp>
        <p:nvSpPr>
          <p:cNvPr id="44" name="Text 42"/>
          <p:cNvSpPr/>
          <p:nvPr/>
        </p:nvSpPr>
        <p:spPr>
          <a:xfrm>
            <a:off x="8915400" y="5614416"/>
            <a:ext cx="2606040" cy="566928"/>
          </a:xfrm>
          <a:prstGeom prst="rect">
            <a:avLst/>
          </a:prstGeom>
          <a:noFill/>
          <a:ln/>
        </p:spPr>
        <p:txBody>
          <a:bodyPr wrap="square" rtlCol="0" anchor="ctr"/>
          <a:lstStyle/>
          <a:p>
            <a:pPr marL="0" indent="0">
              <a:buNone/>
            </a:pPr>
            <a:r>
              <a:rPr lang="en-US" sz="950" dirty="0">
                <a:solidFill>
                  <a:srgbClr val="F2F5FA"/>
                </a:solidFill>
                <a:latin typeface="Calibri" pitchFamily="34" charset="0"/>
                <a:ea typeface="Calibri" pitchFamily="34" charset="-122"/>
                <a:cs typeface="Calibri" pitchFamily="34" charset="-120"/>
              </a:rPr>
              <a:t>CISA's confirmed real-world exploited list</a:t>
            </a:r>
            <a:endParaRPr lang="en-US" sz="950" dirty="0"/>
          </a:p>
        </p:txBody>
      </p:sp>
      <p:sp>
        <p:nvSpPr>
          <p:cNvPr id="45" name="Shape 43"/>
          <p:cNvSpPr/>
          <p:nvPr/>
        </p:nvSpPr>
        <p:spPr>
          <a:xfrm>
            <a:off x="7818120" y="6272784"/>
            <a:ext cx="3794760" cy="566928"/>
          </a:xfrm>
          <a:prstGeom prst="roundRect">
            <a:avLst>
              <a:gd name="adj" fmla="val 9677"/>
            </a:avLst>
          </a:prstGeom>
          <a:solidFill>
            <a:srgbClr val="111A2E"/>
          </a:solidFill>
          <a:ln w="9525">
            <a:solidFill>
              <a:srgbClr val="16223B"/>
            </a:solidFill>
            <a:prstDash val="solid"/>
          </a:ln>
        </p:spPr>
      </p:sp>
      <p:sp>
        <p:nvSpPr>
          <p:cNvPr id="46" name="Text 44"/>
          <p:cNvSpPr/>
          <p:nvPr/>
        </p:nvSpPr>
        <p:spPr>
          <a:xfrm>
            <a:off x="7955280" y="6272784"/>
            <a:ext cx="914400" cy="566928"/>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EPSS</a:t>
            </a:r>
            <a:endParaRPr lang="en-US" sz="1300" dirty="0"/>
          </a:p>
        </p:txBody>
      </p:sp>
      <p:sp>
        <p:nvSpPr>
          <p:cNvPr id="47" name="Text 45"/>
          <p:cNvSpPr/>
          <p:nvPr/>
        </p:nvSpPr>
        <p:spPr>
          <a:xfrm>
            <a:off x="8915400" y="6272784"/>
            <a:ext cx="2606040" cy="566928"/>
          </a:xfrm>
          <a:prstGeom prst="rect">
            <a:avLst/>
          </a:prstGeom>
          <a:noFill/>
          <a:ln/>
        </p:spPr>
        <p:txBody>
          <a:bodyPr wrap="square" rtlCol="0" anchor="ctr"/>
          <a:lstStyle/>
          <a:p>
            <a:pPr marL="0" indent="0">
              <a:buNone/>
            </a:pPr>
            <a:r>
              <a:rPr lang="en-US" sz="950" dirty="0">
                <a:solidFill>
                  <a:srgbClr val="F2F5FA"/>
                </a:solidFill>
                <a:latin typeface="Calibri" pitchFamily="34" charset="0"/>
                <a:ea typeface="Calibri" pitchFamily="34" charset="-122"/>
                <a:cs typeface="Calibri" pitchFamily="34" charset="-120"/>
              </a:rPr>
              <a:t>Probability of exploitation in next 30 days</a:t>
            </a:r>
            <a:endParaRPr lang="en-US" sz="950" dirty="0"/>
          </a:p>
        </p:txBody>
      </p:sp>
      <p:sp>
        <p:nvSpPr>
          <p:cNvPr id="48" name="Text 46"/>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49" name="Text 47"/>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03B · UNDER THE HOOD</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Three Files, Zero Dependencies</a:t>
            </a:r>
            <a:endParaRPr lang="en-US" sz="3000" dirty="0"/>
          </a:p>
        </p:txBody>
      </p:sp>
      <p:sp>
        <p:nvSpPr>
          <p:cNvPr id="5" name="Text 3"/>
          <p:cNvSpPr/>
          <p:nvPr/>
        </p:nvSpPr>
        <p:spPr>
          <a:xfrm>
            <a:off x="548640" y="1645920"/>
            <a:ext cx="11064240" cy="548640"/>
          </a:xfrm>
          <a:prstGeom prst="rect">
            <a:avLst/>
          </a:prstGeom>
          <a:noFill/>
          <a:ln/>
        </p:spPr>
        <p:txBody>
          <a:bodyPr wrap="square" rtlCol="0" anchor="ctr"/>
          <a:lstStyle/>
          <a:p>
            <a:pPr marL="0" indent="0">
              <a:buNone/>
            </a:pPr>
            <a:r>
              <a:rPr lang="en-US" sz="1400" dirty="0">
                <a:solidFill>
                  <a:srgbClr val="9AA8C0"/>
                </a:solidFill>
                <a:latin typeface="Calibri" pitchFamily="34" charset="0"/>
                <a:ea typeface="Calibri" pitchFamily="34" charset="-122"/>
                <a:cs typeface="Calibri" pitchFamily="34" charset="-120"/>
              </a:rPr>
              <a:t>Plain Python, standard library only. No ML model, no external API, no pip install — every scoring decision is a readable, auditable formula.</a:t>
            </a:r>
            <a:endParaRPr lang="en-US" sz="1400" dirty="0"/>
          </a:p>
        </p:txBody>
      </p:sp>
      <p:sp>
        <p:nvSpPr>
          <p:cNvPr id="6" name="Shape 4"/>
          <p:cNvSpPr/>
          <p:nvPr/>
        </p:nvSpPr>
        <p:spPr>
          <a:xfrm>
            <a:off x="548640" y="2377440"/>
            <a:ext cx="2103120" cy="1234440"/>
          </a:xfrm>
          <a:prstGeom prst="roundRect">
            <a:avLst>
              <a:gd name="adj" fmla="val 5926"/>
            </a:avLst>
          </a:prstGeom>
          <a:solidFill>
            <a:srgbClr val="16223B"/>
          </a:solidFill>
          <a:ln w="19050">
            <a:solidFill>
              <a:srgbClr val="3AA0FF"/>
            </a:solidFill>
            <a:prstDash val="solid"/>
          </a:ln>
        </p:spPr>
      </p:sp>
      <p:sp>
        <p:nvSpPr>
          <p:cNvPr id="7" name="Text 5"/>
          <p:cNvSpPr/>
          <p:nvPr/>
        </p:nvSpPr>
        <p:spPr>
          <a:xfrm>
            <a:off x="548640" y="2487168"/>
            <a:ext cx="2103120" cy="365760"/>
          </a:xfrm>
          <a:prstGeom prst="rect">
            <a:avLst/>
          </a:prstGeom>
          <a:noFill/>
          <a:ln/>
        </p:spPr>
        <p:txBody>
          <a:bodyPr wrap="square" rtlCol="0" anchor="ctr"/>
          <a:lstStyle/>
          <a:p>
            <a:pPr marL="0" indent="0" algn="ctr">
              <a:buNone/>
            </a:pPr>
            <a:r>
              <a:rPr lang="en-US" sz="1500" b="1" dirty="0">
                <a:solidFill>
                  <a:srgbClr val="3AA0FF"/>
                </a:solidFill>
                <a:latin typeface="Cambria" pitchFamily="34" charset="0"/>
                <a:ea typeface="Cambria" pitchFamily="34" charset="-122"/>
                <a:cs typeface="Cambria" pitchFamily="34" charset="-120"/>
              </a:rPr>
              <a:t>LOAD</a:t>
            </a:r>
            <a:endParaRPr lang="en-US" sz="1500" dirty="0"/>
          </a:p>
        </p:txBody>
      </p:sp>
      <p:sp>
        <p:nvSpPr>
          <p:cNvPr id="8" name="Text 6"/>
          <p:cNvSpPr/>
          <p:nvPr/>
        </p:nvSpPr>
        <p:spPr>
          <a:xfrm>
            <a:off x="64008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engine.py</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load_vulnerabilities()</a:t>
            </a:r>
            <a:endParaRPr lang="en-US" sz="1050" dirty="0"/>
          </a:p>
        </p:txBody>
      </p:sp>
      <p:sp>
        <p:nvSpPr>
          <p:cNvPr id="9" name="Text 7"/>
          <p:cNvSpPr/>
          <p:nvPr/>
        </p:nvSpPr>
        <p:spPr>
          <a:xfrm>
            <a:off x="2633472" y="2788920"/>
            <a:ext cx="457200" cy="457200"/>
          </a:xfrm>
          <a:prstGeom prst="rect">
            <a:avLst/>
          </a:prstGeom>
          <a:noFill/>
          <a:ln/>
        </p:spPr>
        <p:txBody>
          <a:bodyPr wrap="square" rtlCol="0" anchor="ctr"/>
          <a:lstStyle/>
          <a:p>
            <a:pPr marL="0" indent="0" algn="ctr">
              <a:buNone/>
            </a:pPr>
            <a:r>
              <a:rPr lang="en-US" sz="1600" b="1" dirty="0">
                <a:solidFill>
                  <a:srgbClr val="9AA8C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788920" y="2377440"/>
            <a:ext cx="2103120" cy="1234440"/>
          </a:xfrm>
          <a:prstGeom prst="roundRect">
            <a:avLst>
              <a:gd name="adj" fmla="val 5926"/>
            </a:avLst>
          </a:prstGeom>
          <a:solidFill>
            <a:srgbClr val="16223B"/>
          </a:solidFill>
          <a:ln w="19050">
            <a:solidFill>
              <a:srgbClr val="00E5A0"/>
            </a:solidFill>
            <a:prstDash val="solid"/>
          </a:ln>
        </p:spPr>
      </p:sp>
      <p:sp>
        <p:nvSpPr>
          <p:cNvPr id="11" name="Text 9"/>
          <p:cNvSpPr/>
          <p:nvPr/>
        </p:nvSpPr>
        <p:spPr>
          <a:xfrm>
            <a:off x="2788920" y="2487168"/>
            <a:ext cx="2103120" cy="365760"/>
          </a:xfrm>
          <a:prstGeom prst="rect">
            <a:avLst/>
          </a:prstGeom>
          <a:noFill/>
          <a:ln/>
        </p:spPr>
        <p:txBody>
          <a:bodyPr wrap="square" rtlCol="0" anchor="ctr"/>
          <a:lstStyle/>
          <a:p>
            <a:pPr marL="0" indent="0" algn="ctr">
              <a:buNone/>
            </a:pPr>
            <a:r>
              <a:rPr lang="en-US" sz="1500" b="1" dirty="0">
                <a:solidFill>
                  <a:srgbClr val="00E5A0"/>
                </a:solidFill>
                <a:latin typeface="Cambria" pitchFamily="34" charset="0"/>
                <a:ea typeface="Cambria" pitchFamily="34" charset="-122"/>
                <a:cs typeface="Cambria" pitchFamily="34" charset="-120"/>
              </a:rPr>
              <a:t>SCORE</a:t>
            </a:r>
            <a:endParaRPr lang="en-US" sz="1500" dirty="0"/>
          </a:p>
        </p:txBody>
      </p:sp>
      <p:sp>
        <p:nvSpPr>
          <p:cNvPr id="12" name="Text 10"/>
          <p:cNvSpPr/>
          <p:nvPr/>
        </p:nvSpPr>
        <p:spPr>
          <a:xfrm>
            <a:off x="288036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engine.py</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score_vulnerability()</a:t>
            </a:r>
            <a:endParaRPr lang="en-US" sz="1050" dirty="0"/>
          </a:p>
        </p:txBody>
      </p:sp>
      <p:sp>
        <p:nvSpPr>
          <p:cNvPr id="13" name="Text 11"/>
          <p:cNvSpPr/>
          <p:nvPr/>
        </p:nvSpPr>
        <p:spPr>
          <a:xfrm>
            <a:off x="4873752" y="2788920"/>
            <a:ext cx="457200" cy="457200"/>
          </a:xfrm>
          <a:prstGeom prst="rect">
            <a:avLst/>
          </a:prstGeom>
          <a:noFill/>
          <a:ln/>
        </p:spPr>
        <p:txBody>
          <a:bodyPr wrap="square" rtlCol="0" anchor="ctr"/>
          <a:lstStyle/>
          <a:p>
            <a:pPr marL="0" indent="0" algn="ctr">
              <a:buNone/>
            </a:pPr>
            <a:r>
              <a:rPr lang="en-US" sz="1600" b="1" dirty="0">
                <a:solidFill>
                  <a:srgbClr val="9AA8C0"/>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5029200" y="2377440"/>
            <a:ext cx="2103120" cy="1234440"/>
          </a:xfrm>
          <a:prstGeom prst="roundRect">
            <a:avLst>
              <a:gd name="adj" fmla="val 5926"/>
            </a:avLst>
          </a:prstGeom>
          <a:solidFill>
            <a:srgbClr val="16223B"/>
          </a:solidFill>
          <a:ln w="19050">
            <a:solidFill>
              <a:srgbClr val="F4C542"/>
            </a:solidFill>
            <a:prstDash val="solid"/>
          </a:ln>
        </p:spPr>
      </p:sp>
      <p:sp>
        <p:nvSpPr>
          <p:cNvPr id="15" name="Text 13"/>
          <p:cNvSpPr/>
          <p:nvPr/>
        </p:nvSpPr>
        <p:spPr>
          <a:xfrm>
            <a:off x="5029200" y="2487168"/>
            <a:ext cx="2103120" cy="365760"/>
          </a:xfrm>
          <a:prstGeom prst="rect">
            <a:avLst/>
          </a:prstGeom>
          <a:noFill/>
          <a:ln/>
        </p:spPr>
        <p:txBody>
          <a:bodyPr wrap="square" rtlCol="0" anchor="ctr"/>
          <a:lstStyle/>
          <a:p>
            <a:pPr marL="0" indent="0" algn="ctr">
              <a:buNone/>
            </a:pPr>
            <a:r>
              <a:rPr lang="en-US" sz="1500" b="1" dirty="0">
                <a:solidFill>
                  <a:srgbClr val="F4C542"/>
                </a:solidFill>
                <a:latin typeface="Cambria" pitchFamily="34" charset="0"/>
                <a:ea typeface="Cambria" pitchFamily="34" charset="-122"/>
                <a:cs typeface="Cambria" pitchFamily="34" charset="-120"/>
              </a:rPr>
              <a:t>RANK</a:t>
            </a:r>
            <a:endParaRPr lang="en-US" sz="1500" dirty="0"/>
          </a:p>
        </p:txBody>
      </p:sp>
      <p:sp>
        <p:nvSpPr>
          <p:cNvPr id="16" name="Text 14"/>
          <p:cNvSpPr/>
          <p:nvPr/>
        </p:nvSpPr>
        <p:spPr>
          <a:xfrm>
            <a:off x="512064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engine.py</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run_triage()</a:t>
            </a:r>
            <a:endParaRPr lang="en-US" sz="1050" dirty="0"/>
          </a:p>
        </p:txBody>
      </p:sp>
      <p:sp>
        <p:nvSpPr>
          <p:cNvPr id="17" name="Text 15"/>
          <p:cNvSpPr/>
          <p:nvPr/>
        </p:nvSpPr>
        <p:spPr>
          <a:xfrm>
            <a:off x="7114032" y="2788920"/>
            <a:ext cx="457200" cy="457200"/>
          </a:xfrm>
          <a:prstGeom prst="rect">
            <a:avLst/>
          </a:prstGeom>
          <a:noFill/>
          <a:ln/>
        </p:spPr>
        <p:txBody>
          <a:bodyPr wrap="square" rtlCol="0" anchor="ctr"/>
          <a:lstStyle/>
          <a:p>
            <a:pPr marL="0" indent="0" algn="ctr">
              <a:buNone/>
            </a:pPr>
            <a:r>
              <a:rPr lang="en-US" sz="1600" b="1" dirty="0">
                <a:solidFill>
                  <a:srgbClr val="9AA8C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7269480" y="2377440"/>
            <a:ext cx="2103120" cy="1234440"/>
          </a:xfrm>
          <a:prstGeom prst="roundRect">
            <a:avLst>
              <a:gd name="adj" fmla="val 5926"/>
            </a:avLst>
          </a:prstGeom>
          <a:solidFill>
            <a:srgbClr val="16223B"/>
          </a:solidFill>
          <a:ln w="19050">
            <a:solidFill>
              <a:srgbClr val="FF9E4A"/>
            </a:solidFill>
            <a:prstDash val="solid"/>
          </a:ln>
        </p:spPr>
      </p:sp>
      <p:sp>
        <p:nvSpPr>
          <p:cNvPr id="19" name="Text 17"/>
          <p:cNvSpPr/>
          <p:nvPr/>
        </p:nvSpPr>
        <p:spPr>
          <a:xfrm>
            <a:off x="7269480" y="2487168"/>
            <a:ext cx="2103120" cy="365760"/>
          </a:xfrm>
          <a:prstGeom prst="rect">
            <a:avLst/>
          </a:prstGeom>
          <a:noFill/>
          <a:ln/>
        </p:spPr>
        <p:txBody>
          <a:bodyPr wrap="square" rtlCol="0" anchor="ctr"/>
          <a:lstStyle/>
          <a:p>
            <a:pPr marL="0" indent="0" algn="ctr">
              <a:buNone/>
            </a:pPr>
            <a:r>
              <a:rPr lang="en-US" sz="1500" b="1" dirty="0">
                <a:solidFill>
                  <a:srgbClr val="FF9E4A"/>
                </a:solidFill>
                <a:latin typeface="Cambria" pitchFamily="34" charset="0"/>
                <a:ea typeface="Cambria" pitchFamily="34" charset="-122"/>
                <a:cs typeface="Cambria" pitchFamily="34" charset="-120"/>
              </a:rPr>
              <a:t>EXPLAIN</a:t>
            </a:r>
            <a:endParaRPr lang="en-US" sz="1500" dirty="0"/>
          </a:p>
        </p:txBody>
      </p:sp>
      <p:sp>
        <p:nvSpPr>
          <p:cNvPr id="20" name="Text 18"/>
          <p:cNvSpPr/>
          <p:nvPr/>
        </p:nvSpPr>
        <p:spPr>
          <a:xfrm>
            <a:off x="736092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engine.py</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build_result_card()</a:t>
            </a:r>
            <a:endParaRPr lang="en-US" sz="1050" dirty="0"/>
          </a:p>
        </p:txBody>
      </p:sp>
      <p:sp>
        <p:nvSpPr>
          <p:cNvPr id="21" name="Text 19"/>
          <p:cNvSpPr/>
          <p:nvPr/>
        </p:nvSpPr>
        <p:spPr>
          <a:xfrm>
            <a:off x="9354312" y="2788920"/>
            <a:ext cx="457200" cy="457200"/>
          </a:xfrm>
          <a:prstGeom prst="rect">
            <a:avLst/>
          </a:prstGeom>
          <a:noFill/>
          <a:ln/>
        </p:spPr>
        <p:txBody>
          <a:bodyPr wrap="square" rtlCol="0" anchor="ctr"/>
          <a:lstStyle/>
          <a:p>
            <a:pPr marL="0" indent="0" algn="ctr">
              <a:buNone/>
            </a:pPr>
            <a:r>
              <a:rPr lang="en-US" sz="1600" b="1" dirty="0">
                <a:solidFill>
                  <a:srgbClr val="9AA8C0"/>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9509760" y="2377440"/>
            <a:ext cx="2103120" cy="1234440"/>
          </a:xfrm>
          <a:prstGeom prst="roundRect">
            <a:avLst>
              <a:gd name="adj" fmla="val 5926"/>
            </a:avLst>
          </a:prstGeom>
          <a:solidFill>
            <a:srgbClr val="16223B"/>
          </a:solidFill>
          <a:ln w="19050">
            <a:solidFill>
              <a:srgbClr val="FF5C5C"/>
            </a:solidFill>
            <a:prstDash val="solid"/>
          </a:ln>
        </p:spPr>
      </p:sp>
      <p:sp>
        <p:nvSpPr>
          <p:cNvPr id="23" name="Text 21"/>
          <p:cNvSpPr/>
          <p:nvPr/>
        </p:nvSpPr>
        <p:spPr>
          <a:xfrm>
            <a:off x="9509760" y="2487168"/>
            <a:ext cx="2103120" cy="365760"/>
          </a:xfrm>
          <a:prstGeom prst="rect">
            <a:avLst/>
          </a:prstGeom>
          <a:noFill/>
          <a:ln/>
        </p:spPr>
        <p:txBody>
          <a:bodyPr wrap="square" rtlCol="0" anchor="ctr"/>
          <a:lstStyle/>
          <a:p>
            <a:pPr marL="0" indent="0" algn="ctr">
              <a:buNone/>
            </a:pPr>
            <a:r>
              <a:rPr lang="en-US" sz="1500" b="1" dirty="0">
                <a:solidFill>
                  <a:srgbClr val="FF5C5C"/>
                </a:solidFill>
                <a:latin typeface="Cambria" pitchFamily="34" charset="0"/>
                <a:ea typeface="Cambria" pitchFamily="34" charset="-122"/>
                <a:cs typeface="Cambria" pitchFamily="34" charset="-120"/>
              </a:rPr>
              <a:t>PRESENT</a:t>
            </a:r>
            <a:endParaRPr lang="en-US" sz="1500" dirty="0"/>
          </a:p>
        </p:txBody>
      </p:sp>
      <p:sp>
        <p:nvSpPr>
          <p:cNvPr id="24" name="Text 22"/>
          <p:cNvSpPr/>
          <p:nvPr/>
        </p:nvSpPr>
        <p:spPr>
          <a:xfrm>
            <a:off x="9601200" y="2880360"/>
            <a:ext cx="1920240" cy="685800"/>
          </a:xfrm>
          <a:prstGeom prst="rect">
            <a:avLst/>
          </a:prstGeom>
          <a:noFill/>
          <a:ln/>
        </p:spPr>
        <p:txBody>
          <a:bodyPr wrap="square" rtlCol="0" anchor="ctr"/>
          <a:lstStyle/>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main.py +</a:t>
            </a:r>
            <a:endParaRPr lang="en-US" sz="1050" dirty="0"/>
          </a:p>
          <a:p>
            <a:pPr marL="0" indent="0" algn="ctr">
              <a:lnSpc>
                <a:spcPct val="110000"/>
              </a:lnSpc>
              <a:buNone/>
            </a:pPr>
            <a:r>
              <a:rPr lang="en-US" sz="1050" dirty="0">
                <a:solidFill>
                  <a:srgbClr val="F2F5FA"/>
                </a:solidFill>
                <a:latin typeface="Calibri" pitchFamily="34" charset="0"/>
                <a:ea typeface="Calibri" pitchFamily="34" charset="-122"/>
                <a:cs typeface="Calibri" pitchFamily="34" charset="-120"/>
              </a:rPr>
              <a:t>report.py</a:t>
            </a:r>
            <a:endParaRPr lang="en-US" sz="1050" dirty="0"/>
          </a:p>
        </p:txBody>
      </p:sp>
      <p:sp>
        <p:nvSpPr>
          <p:cNvPr id="25" name="Text 23"/>
          <p:cNvSpPr/>
          <p:nvPr/>
        </p:nvSpPr>
        <p:spPr>
          <a:xfrm>
            <a:off x="548640" y="3977640"/>
            <a:ext cx="457200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OUR CODE FILES</a:t>
            </a:r>
            <a:endParaRPr lang="en-US" sz="1100" dirty="0"/>
          </a:p>
        </p:txBody>
      </p:sp>
      <p:sp>
        <p:nvSpPr>
          <p:cNvPr id="26" name="Shape 24"/>
          <p:cNvSpPr/>
          <p:nvPr/>
        </p:nvSpPr>
        <p:spPr>
          <a:xfrm>
            <a:off x="548640" y="4297680"/>
            <a:ext cx="7040880" cy="621792"/>
          </a:xfrm>
          <a:prstGeom prst="roundRect">
            <a:avLst>
              <a:gd name="adj" fmla="val 8824"/>
            </a:avLst>
          </a:prstGeom>
          <a:solidFill>
            <a:srgbClr val="111A2E"/>
          </a:solidFill>
          <a:ln w="9525">
            <a:solidFill>
              <a:srgbClr val="16223B"/>
            </a:solidFill>
            <a:prstDash val="solid"/>
          </a:ln>
        </p:spPr>
      </p:sp>
      <p:sp>
        <p:nvSpPr>
          <p:cNvPr id="27" name="Text 25"/>
          <p:cNvSpPr/>
          <p:nvPr/>
        </p:nvSpPr>
        <p:spPr>
          <a:xfrm>
            <a:off x="731520" y="4297680"/>
            <a:ext cx="1920240" cy="621792"/>
          </a:xfrm>
          <a:prstGeom prst="rect">
            <a:avLst/>
          </a:prstGeom>
          <a:noFill/>
          <a:ln/>
        </p:spPr>
        <p:txBody>
          <a:bodyPr wrap="square" rtlCol="0" anchor="ctr"/>
          <a:lstStyle/>
          <a:p>
            <a:pPr marL="0" indent="0">
              <a:buNone/>
            </a:pPr>
            <a:r>
              <a:rPr lang="en-US" sz="1200" b="1" dirty="0">
                <a:solidFill>
                  <a:srgbClr val="3AA0FF"/>
                </a:solidFill>
                <a:latin typeface="Calibri" pitchFamily="34" charset="0"/>
                <a:ea typeface="Calibri" pitchFamily="34" charset="-122"/>
                <a:cs typeface="Calibri" pitchFamily="34" charset="-120"/>
              </a:rPr>
              <a:t>engine.py</a:t>
            </a:r>
            <a:endParaRPr lang="en-US" sz="1200" dirty="0"/>
          </a:p>
        </p:txBody>
      </p:sp>
      <p:sp>
        <p:nvSpPr>
          <p:cNvPr id="28" name="Text 26"/>
          <p:cNvSpPr/>
          <p:nvPr/>
        </p:nvSpPr>
        <p:spPr>
          <a:xfrm>
            <a:off x="2697480" y="4297680"/>
            <a:ext cx="4800600" cy="621792"/>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The scoring formula, plus a self-check against gold_set.csv</a:t>
            </a:r>
            <a:endParaRPr lang="en-US" sz="1050" dirty="0"/>
          </a:p>
        </p:txBody>
      </p:sp>
      <p:sp>
        <p:nvSpPr>
          <p:cNvPr id="29" name="Shape 27"/>
          <p:cNvSpPr/>
          <p:nvPr/>
        </p:nvSpPr>
        <p:spPr>
          <a:xfrm>
            <a:off x="548640" y="5010912"/>
            <a:ext cx="7040880" cy="621792"/>
          </a:xfrm>
          <a:prstGeom prst="roundRect">
            <a:avLst>
              <a:gd name="adj" fmla="val 8824"/>
            </a:avLst>
          </a:prstGeom>
          <a:solidFill>
            <a:srgbClr val="111A2E"/>
          </a:solidFill>
          <a:ln w="9525">
            <a:solidFill>
              <a:srgbClr val="16223B"/>
            </a:solidFill>
            <a:prstDash val="solid"/>
          </a:ln>
        </p:spPr>
      </p:sp>
      <p:sp>
        <p:nvSpPr>
          <p:cNvPr id="30" name="Text 28"/>
          <p:cNvSpPr/>
          <p:nvPr/>
        </p:nvSpPr>
        <p:spPr>
          <a:xfrm>
            <a:off x="731520" y="5010912"/>
            <a:ext cx="1920240" cy="621792"/>
          </a:xfrm>
          <a:prstGeom prst="rect">
            <a:avLst/>
          </a:prstGeom>
          <a:noFill/>
          <a:ln/>
        </p:spPr>
        <p:txBody>
          <a:bodyPr wrap="square" rtlCol="0" anchor="ctr"/>
          <a:lstStyle/>
          <a:p>
            <a:pPr marL="0" indent="0">
              <a:buNone/>
            </a:pPr>
            <a:r>
              <a:rPr lang="en-US" sz="1200" b="1" dirty="0">
                <a:solidFill>
                  <a:srgbClr val="3AA0FF"/>
                </a:solidFill>
                <a:latin typeface="Calibri" pitchFamily="34" charset="0"/>
                <a:ea typeface="Calibri" pitchFamily="34" charset="-122"/>
                <a:cs typeface="Calibri" pitchFamily="34" charset="-120"/>
              </a:rPr>
              <a:t>main.py</a:t>
            </a:r>
            <a:endParaRPr lang="en-US" sz="1200" dirty="0"/>
          </a:p>
        </p:txBody>
      </p:sp>
      <p:sp>
        <p:nvSpPr>
          <p:cNvPr id="31" name="Text 29"/>
          <p:cNvSpPr/>
          <p:nvPr/>
        </p:nvSpPr>
        <p:spPr>
          <a:xfrm>
            <a:off x="2697480" y="5010912"/>
            <a:ext cx="4800600" cy="621792"/>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CLI: top 5, compare orgs, negative test, validate</a:t>
            </a:r>
            <a:endParaRPr lang="en-US" sz="1050" dirty="0"/>
          </a:p>
        </p:txBody>
      </p:sp>
      <p:sp>
        <p:nvSpPr>
          <p:cNvPr id="32" name="Shape 30"/>
          <p:cNvSpPr/>
          <p:nvPr/>
        </p:nvSpPr>
        <p:spPr>
          <a:xfrm>
            <a:off x="548640" y="5724144"/>
            <a:ext cx="7040880" cy="621792"/>
          </a:xfrm>
          <a:prstGeom prst="roundRect">
            <a:avLst>
              <a:gd name="adj" fmla="val 8824"/>
            </a:avLst>
          </a:prstGeom>
          <a:solidFill>
            <a:srgbClr val="111A2E"/>
          </a:solidFill>
          <a:ln w="9525">
            <a:solidFill>
              <a:srgbClr val="16223B"/>
            </a:solidFill>
            <a:prstDash val="solid"/>
          </a:ln>
        </p:spPr>
      </p:sp>
      <p:sp>
        <p:nvSpPr>
          <p:cNvPr id="33" name="Text 31"/>
          <p:cNvSpPr/>
          <p:nvPr/>
        </p:nvSpPr>
        <p:spPr>
          <a:xfrm>
            <a:off x="731520" y="5724144"/>
            <a:ext cx="1920240" cy="621792"/>
          </a:xfrm>
          <a:prstGeom prst="rect">
            <a:avLst/>
          </a:prstGeom>
          <a:noFill/>
          <a:ln/>
        </p:spPr>
        <p:txBody>
          <a:bodyPr wrap="square" rtlCol="0" anchor="ctr"/>
          <a:lstStyle/>
          <a:p>
            <a:pPr marL="0" indent="0">
              <a:buNone/>
            </a:pPr>
            <a:r>
              <a:rPr lang="en-US" sz="1200" b="1" dirty="0">
                <a:solidFill>
                  <a:srgbClr val="3AA0FF"/>
                </a:solidFill>
                <a:latin typeface="Calibri" pitchFamily="34" charset="0"/>
                <a:ea typeface="Calibri" pitchFamily="34" charset="-122"/>
                <a:cs typeface="Calibri" pitchFamily="34" charset="-120"/>
              </a:rPr>
              <a:t>report.py</a:t>
            </a:r>
            <a:endParaRPr lang="en-US" sz="1200" dirty="0"/>
          </a:p>
        </p:txBody>
      </p:sp>
      <p:sp>
        <p:nvSpPr>
          <p:cNvPr id="34" name="Text 32"/>
          <p:cNvSpPr/>
          <p:nvPr/>
        </p:nvSpPr>
        <p:spPr>
          <a:xfrm>
            <a:off x="2697480" y="5724144"/>
            <a:ext cx="4800600" cy="621792"/>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Turns the same data into a browser-ready HTML report</a:t>
            </a:r>
            <a:endParaRPr lang="en-US" sz="1050" dirty="0"/>
          </a:p>
        </p:txBody>
      </p:sp>
      <p:sp>
        <p:nvSpPr>
          <p:cNvPr id="35" name="Text 33"/>
          <p:cNvSpPr/>
          <p:nvPr/>
        </p:nvSpPr>
        <p:spPr>
          <a:xfrm>
            <a:off x="7818120" y="3977640"/>
            <a:ext cx="365760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DESIGN PRINCIPLES</a:t>
            </a:r>
            <a:endParaRPr lang="en-US" sz="1100" dirty="0"/>
          </a:p>
        </p:txBody>
      </p:sp>
      <p:sp>
        <p:nvSpPr>
          <p:cNvPr id="36" name="Shape 34"/>
          <p:cNvSpPr/>
          <p:nvPr/>
        </p:nvSpPr>
        <p:spPr>
          <a:xfrm>
            <a:off x="7818120" y="4297680"/>
            <a:ext cx="3794760" cy="566928"/>
          </a:xfrm>
          <a:prstGeom prst="roundRect">
            <a:avLst>
              <a:gd name="adj" fmla="val 9677"/>
            </a:avLst>
          </a:prstGeom>
          <a:solidFill>
            <a:srgbClr val="111A2E"/>
          </a:solidFill>
          <a:ln w="9525">
            <a:solidFill>
              <a:srgbClr val="16223B"/>
            </a:solidFill>
            <a:prstDash val="solid"/>
          </a:ln>
        </p:spPr>
      </p:sp>
      <p:sp>
        <p:nvSpPr>
          <p:cNvPr id="37" name="Text 35"/>
          <p:cNvSpPr/>
          <p:nvPr/>
        </p:nvSpPr>
        <p:spPr>
          <a:xfrm>
            <a:off x="7955280" y="4297680"/>
            <a:ext cx="914400" cy="566928"/>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Clear</a:t>
            </a:r>
            <a:endParaRPr lang="en-US" sz="1300" dirty="0"/>
          </a:p>
        </p:txBody>
      </p:sp>
      <p:sp>
        <p:nvSpPr>
          <p:cNvPr id="38" name="Text 36"/>
          <p:cNvSpPr/>
          <p:nvPr/>
        </p:nvSpPr>
        <p:spPr>
          <a:xfrm>
            <a:off x="8915400" y="4297680"/>
            <a:ext cx="2606040" cy="566928"/>
          </a:xfrm>
          <a:prstGeom prst="rect">
            <a:avLst/>
          </a:prstGeom>
          <a:noFill/>
          <a:ln/>
        </p:spPr>
        <p:txBody>
          <a:bodyPr wrap="square" rtlCol="0" anchor="ctr"/>
          <a:lstStyle/>
          <a:p>
            <a:pPr marL="0" indent="0">
              <a:buNone/>
            </a:pPr>
            <a:r>
              <a:rPr lang="en-US" sz="950" dirty="0">
                <a:solidFill>
                  <a:srgbClr val="F2F5FA"/>
                </a:solidFill>
                <a:latin typeface="Calibri" pitchFamily="34" charset="0"/>
                <a:ea typeface="Calibri" pitchFamily="34" charset="-122"/>
                <a:cs typeface="Calibri" pitchFamily="34" charset="-120"/>
              </a:rPr>
              <a:t>Every point in every score is labelled and visible</a:t>
            </a:r>
            <a:endParaRPr lang="en-US" sz="950" dirty="0"/>
          </a:p>
        </p:txBody>
      </p:sp>
      <p:sp>
        <p:nvSpPr>
          <p:cNvPr id="39" name="Shape 37"/>
          <p:cNvSpPr/>
          <p:nvPr/>
        </p:nvSpPr>
        <p:spPr>
          <a:xfrm>
            <a:off x="7818120" y="4956048"/>
            <a:ext cx="3794760" cy="566928"/>
          </a:xfrm>
          <a:prstGeom prst="roundRect">
            <a:avLst>
              <a:gd name="adj" fmla="val 9677"/>
            </a:avLst>
          </a:prstGeom>
          <a:solidFill>
            <a:srgbClr val="111A2E"/>
          </a:solidFill>
          <a:ln w="9525">
            <a:solidFill>
              <a:srgbClr val="16223B"/>
            </a:solidFill>
            <a:prstDash val="solid"/>
          </a:ln>
        </p:spPr>
      </p:sp>
      <p:sp>
        <p:nvSpPr>
          <p:cNvPr id="40" name="Text 38"/>
          <p:cNvSpPr/>
          <p:nvPr/>
        </p:nvSpPr>
        <p:spPr>
          <a:xfrm>
            <a:off x="7955280" y="4956048"/>
            <a:ext cx="960120" cy="566928"/>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Grounded</a:t>
            </a:r>
            <a:endParaRPr lang="en-US" sz="1300" dirty="0"/>
          </a:p>
        </p:txBody>
      </p:sp>
      <p:sp>
        <p:nvSpPr>
          <p:cNvPr id="41" name="Text 39"/>
          <p:cNvSpPr/>
          <p:nvPr/>
        </p:nvSpPr>
        <p:spPr>
          <a:xfrm>
            <a:off x="8915400" y="4956048"/>
            <a:ext cx="2606040" cy="566928"/>
          </a:xfrm>
          <a:prstGeom prst="rect">
            <a:avLst/>
          </a:prstGeom>
          <a:noFill/>
          <a:ln/>
        </p:spPr>
        <p:txBody>
          <a:bodyPr wrap="square" rtlCol="0" anchor="ctr"/>
          <a:lstStyle/>
          <a:p>
            <a:pPr marL="0" indent="0">
              <a:buNone/>
            </a:pPr>
            <a:r>
              <a:rPr lang="en-US" sz="950" dirty="0">
                <a:solidFill>
                  <a:srgbClr val="F2F5FA"/>
                </a:solidFill>
                <a:latin typeface="Calibri" pitchFamily="34" charset="0"/>
                <a:ea typeface="Calibri" pitchFamily="34" charset="-122"/>
                <a:cs typeface="Calibri" pitchFamily="34" charset="-120"/>
              </a:rPr>
              <a:t>Template-based text only — no LLM invents a version or a fix</a:t>
            </a:r>
            <a:endParaRPr lang="en-US" sz="950" dirty="0"/>
          </a:p>
        </p:txBody>
      </p:sp>
      <p:sp>
        <p:nvSpPr>
          <p:cNvPr id="42" name="Shape 40"/>
          <p:cNvSpPr/>
          <p:nvPr/>
        </p:nvSpPr>
        <p:spPr>
          <a:xfrm>
            <a:off x="7818120" y="5614416"/>
            <a:ext cx="3794760" cy="566928"/>
          </a:xfrm>
          <a:prstGeom prst="roundRect">
            <a:avLst>
              <a:gd name="adj" fmla="val 9677"/>
            </a:avLst>
          </a:prstGeom>
          <a:solidFill>
            <a:srgbClr val="111A2E"/>
          </a:solidFill>
          <a:ln w="9525">
            <a:solidFill>
              <a:srgbClr val="16223B"/>
            </a:solidFill>
            <a:prstDash val="solid"/>
          </a:ln>
        </p:spPr>
      </p:sp>
      <p:sp>
        <p:nvSpPr>
          <p:cNvPr id="43" name="Text 41"/>
          <p:cNvSpPr/>
          <p:nvPr/>
        </p:nvSpPr>
        <p:spPr>
          <a:xfrm>
            <a:off x="7955280" y="5614416"/>
            <a:ext cx="914400" cy="566928"/>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Offline</a:t>
            </a:r>
            <a:endParaRPr lang="en-US" sz="1300" dirty="0"/>
          </a:p>
        </p:txBody>
      </p:sp>
      <p:sp>
        <p:nvSpPr>
          <p:cNvPr id="44" name="Text 42"/>
          <p:cNvSpPr/>
          <p:nvPr/>
        </p:nvSpPr>
        <p:spPr>
          <a:xfrm>
            <a:off x="8915400" y="5614416"/>
            <a:ext cx="2606040" cy="566928"/>
          </a:xfrm>
          <a:prstGeom prst="rect">
            <a:avLst/>
          </a:prstGeom>
          <a:noFill/>
          <a:ln/>
        </p:spPr>
        <p:txBody>
          <a:bodyPr wrap="square" rtlCol="0" anchor="ctr"/>
          <a:lstStyle/>
          <a:p>
            <a:pPr marL="0" indent="0">
              <a:buNone/>
            </a:pPr>
            <a:r>
              <a:rPr lang="en-US" sz="950" dirty="0">
                <a:solidFill>
                  <a:srgbClr val="F2F5FA"/>
                </a:solidFill>
                <a:latin typeface="Calibri" pitchFamily="34" charset="0"/>
                <a:ea typeface="Calibri" pitchFamily="34" charset="-122"/>
                <a:cs typeface="Calibri" pitchFamily="34" charset="-120"/>
              </a:rPr>
              <a:t>Runs fully offline — no API key, no internet connection</a:t>
            </a:r>
            <a:endParaRPr lang="en-US" sz="950" dirty="0"/>
          </a:p>
        </p:txBody>
      </p:sp>
      <p:sp>
        <p:nvSpPr>
          <p:cNvPr id="45" name="Shape 43"/>
          <p:cNvSpPr/>
          <p:nvPr/>
        </p:nvSpPr>
        <p:spPr>
          <a:xfrm>
            <a:off x="7818120" y="6272784"/>
            <a:ext cx="3794760" cy="566928"/>
          </a:xfrm>
          <a:prstGeom prst="roundRect">
            <a:avLst>
              <a:gd name="adj" fmla="val 9677"/>
            </a:avLst>
          </a:prstGeom>
          <a:solidFill>
            <a:srgbClr val="111A2E"/>
          </a:solidFill>
          <a:ln w="9525">
            <a:solidFill>
              <a:srgbClr val="16223B"/>
            </a:solidFill>
            <a:prstDash val="solid"/>
          </a:ln>
        </p:spPr>
      </p:sp>
      <p:sp>
        <p:nvSpPr>
          <p:cNvPr id="46" name="Text 44"/>
          <p:cNvSpPr/>
          <p:nvPr/>
        </p:nvSpPr>
        <p:spPr>
          <a:xfrm>
            <a:off x="7955280" y="6272784"/>
            <a:ext cx="914400" cy="566928"/>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Self-checked</a:t>
            </a:r>
            <a:endParaRPr lang="en-US" sz="1300" dirty="0"/>
          </a:p>
        </p:txBody>
      </p:sp>
      <p:sp>
        <p:nvSpPr>
          <p:cNvPr id="47" name="Text 45"/>
          <p:cNvSpPr/>
          <p:nvPr/>
        </p:nvSpPr>
        <p:spPr>
          <a:xfrm>
            <a:off x="8915400" y="6272784"/>
            <a:ext cx="2606040" cy="566928"/>
          </a:xfrm>
          <a:prstGeom prst="rect">
            <a:avLst/>
          </a:prstGeom>
          <a:noFill/>
          <a:ln/>
        </p:spPr>
        <p:txBody>
          <a:bodyPr wrap="square" rtlCol="0" anchor="ctr"/>
          <a:lstStyle/>
          <a:p>
            <a:pPr marL="0" indent="0">
              <a:buNone/>
            </a:pPr>
            <a:r>
              <a:rPr lang="en-US" sz="950" dirty="0">
                <a:solidFill>
                  <a:srgbClr val="F2F5FA"/>
                </a:solidFill>
                <a:latin typeface="Calibri" pitchFamily="34" charset="0"/>
                <a:ea typeface="Calibri" pitchFamily="34" charset="-122"/>
                <a:cs typeface="Calibri" pitchFamily="34" charset="-120"/>
              </a:rPr>
              <a:t>--validate checks itself against gold_set.csv</a:t>
            </a:r>
            <a:endParaRPr lang="en-US" sz="950" dirty="0"/>
          </a:p>
        </p:txBody>
      </p:sp>
      <p:sp>
        <p:nvSpPr>
          <p:cNvPr id="48" name="Text 46"/>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49" name="Text 47"/>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04 · PERSONALISATION</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What Actually Makes It Personal: Two Real Signals</a:t>
            </a:r>
            <a:endParaRPr lang="en-US" sz="3000" dirty="0"/>
          </a:p>
        </p:txBody>
      </p:sp>
      <p:sp>
        <p:nvSpPr>
          <p:cNvPr id="5" name="Text 3"/>
          <p:cNvSpPr/>
          <p:nvPr/>
        </p:nvSpPr>
        <p:spPr>
          <a:xfrm>
            <a:off x="548640" y="1691640"/>
            <a:ext cx="548640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PROFILE FIELDS THAT DRIVE PERSONALISATION</a:t>
            </a:r>
            <a:endParaRPr lang="en-US" sz="1100" dirty="0"/>
          </a:p>
        </p:txBody>
      </p:sp>
      <p:sp>
        <p:nvSpPr>
          <p:cNvPr id="6" name="Shape 4"/>
          <p:cNvSpPr/>
          <p:nvPr/>
        </p:nvSpPr>
        <p:spPr>
          <a:xfrm>
            <a:off x="548640" y="2057400"/>
            <a:ext cx="5486400" cy="749808"/>
          </a:xfrm>
          <a:prstGeom prst="roundRect">
            <a:avLst>
              <a:gd name="adj" fmla="val 7317"/>
            </a:avLst>
          </a:prstGeom>
          <a:solidFill>
            <a:srgbClr val="111A2E"/>
          </a:solidFill>
          <a:ln w="9525">
            <a:solidFill>
              <a:srgbClr val="16223B"/>
            </a:solidFill>
            <a:prstDash val="solid"/>
          </a:ln>
        </p:spPr>
      </p:sp>
      <p:sp>
        <p:nvSpPr>
          <p:cNvPr id="7" name="Text 5"/>
          <p:cNvSpPr/>
          <p:nvPr/>
        </p:nvSpPr>
        <p:spPr>
          <a:xfrm>
            <a:off x="731520" y="2130552"/>
            <a:ext cx="5120640" cy="256032"/>
          </a:xfrm>
          <a:prstGeom prst="rect">
            <a:avLst/>
          </a:prstGeom>
          <a:noFill/>
          <a:ln/>
        </p:spPr>
        <p:txBody>
          <a:bodyPr wrap="square" rtlCol="0" anchor="ctr"/>
          <a:lstStyle/>
          <a:p>
            <a:pPr marL="0" indent="0">
              <a:buNone/>
            </a:pPr>
            <a:r>
              <a:rPr lang="en-US" sz="1300" b="1" dirty="0">
                <a:solidFill>
                  <a:srgbClr val="F2F5FA"/>
                </a:solidFill>
                <a:latin typeface="Cambria" pitchFamily="34" charset="0"/>
                <a:ea typeface="Cambria" pitchFamily="34" charset="-122"/>
                <a:cs typeface="Cambria" pitchFamily="34" charset="-120"/>
              </a:rPr>
              <a:t>Weight Modifiers</a:t>
            </a:r>
            <a:endParaRPr lang="en-US" sz="1300" dirty="0"/>
          </a:p>
        </p:txBody>
      </p:sp>
      <p:sp>
        <p:nvSpPr>
          <p:cNvPr id="8" name="Text 6"/>
          <p:cNvSpPr/>
          <p:nvPr/>
        </p:nvSpPr>
        <p:spPr>
          <a:xfrm>
            <a:off x="731520" y="2404872"/>
            <a:ext cx="5120640" cy="329184"/>
          </a:xfrm>
          <a:prstGeom prst="rect">
            <a:avLst/>
          </a:prstGeom>
          <a:noFill/>
          <a:ln/>
        </p:spPr>
        <p:txBody>
          <a:bodyPr wrap="square" rtlCol="0" anchor="ctr"/>
          <a:lstStyle/>
          <a:p>
            <a:pPr marL="0" indent="0">
              <a:buNone/>
            </a:pPr>
            <a:r>
              <a:rPr lang="en-US" sz="1050" dirty="0">
                <a:solidFill>
                  <a:srgbClr val="9AA8C0"/>
                </a:solidFill>
                <a:latin typeface="Calibri" pitchFamily="34" charset="0"/>
                <a:ea typeface="Calibri" pitchFamily="34" charset="-122"/>
                <a:cs typeface="Calibri" pitchFamily="34" charset="-120"/>
              </a:rPr>
              <a:t>e.g. CVSS 30% · KEV 45% · EPSS 25%  —  How much THIS org trusts each signal</a:t>
            </a:r>
            <a:endParaRPr lang="en-US" sz="1050" dirty="0"/>
          </a:p>
        </p:txBody>
      </p:sp>
      <p:sp>
        <p:nvSpPr>
          <p:cNvPr id="9" name="Shape 7"/>
          <p:cNvSpPr/>
          <p:nvPr/>
        </p:nvSpPr>
        <p:spPr>
          <a:xfrm>
            <a:off x="548640" y="2916936"/>
            <a:ext cx="5486400" cy="749808"/>
          </a:xfrm>
          <a:prstGeom prst="roundRect">
            <a:avLst>
              <a:gd name="adj" fmla="val 7317"/>
            </a:avLst>
          </a:prstGeom>
          <a:solidFill>
            <a:srgbClr val="111A2E"/>
          </a:solidFill>
          <a:ln w="9525">
            <a:solidFill>
              <a:srgbClr val="16223B"/>
            </a:solidFill>
            <a:prstDash val="solid"/>
          </a:ln>
        </p:spPr>
      </p:sp>
      <p:sp>
        <p:nvSpPr>
          <p:cNvPr id="10" name="Text 8"/>
          <p:cNvSpPr/>
          <p:nvPr/>
        </p:nvSpPr>
        <p:spPr>
          <a:xfrm>
            <a:off x="731520" y="2990088"/>
            <a:ext cx="5120640" cy="256032"/>
          </a:xfrm>
          <a:prstGeom prst="rect">
            <a:avLst/>
          </a:prstGeom>
          <a:noFill/>
          <a:ln/>
        </p:spPr>
        <p:txBody>
          <a:bodyPr wrap="square" rtlCol="0" anchor="ctr"/>
          <a:lstStyle/>
          <a:p>
            <a:pPr marL="0" indent="0">
              <a:buNone/>
            </a:pPr>
            <a:r>
              <a:rPr lang="en-US" sz="1300" b="1" dirty="0">
                <a:solidFill>
                  <a:srgbClr val="F2F5FA"/>
                </a:solidFill>
                <a:latin typeface="Cambria" pitchFamily="34" charset="0"/>
                <a:ea typeface="Cambria" pitchFamily="34" charset="-122"/>
                <a:cs typeface="Cambria" pitchFamily="34" charset="-120"/>
              </a:rPr>
              <a:t>Critical Products</a:t>
            </a:r>
            <a:endParaRPr lang="en-US" sz="1300" dirty="0"/>
          </a:p>
        </p:txBody>
      </p:sp>
      <p:sp>
        <p:nvSpPr>
          <p:cNvPr id="11" name="Text 9"/>
          <p:cNvSpPr/>
          <p:nvPr/>
        </p:nvSpPr>
        <p:spPr>
          <a:xfrm>
            <a:off x="731520" y="3264408"/>
            <a:ext cx="5120640" cy="329184"/>
          </a:xfrm>
          <a:prstGeom prst="rect">
            <a:avLst/>
          </a:prstGeom>
          <a:noFill/>
          <a:ln/>
        </p:spPr>
        <p:txBody>
          <a:bodyPr wrap="square" rtlCol="0" anchor="ctr"/>
          <a:lstStyle/>
          <a:p>
            <a:pPr marL="0" indent="0">
              <a:buNone/>
            </a:pPr>
            <a:r>
              <a:rPr lang="en-US" sz="1050" dirty="0">
                <a:solidFill>
                  <a:srgbClr val="9AA8C0"/>
                </a:solidFill>
                <a:latin typeface="Calibri" pitchFamily="34" charset="0"/>
                <a:ea typeface="Calibri" pitchFamily="34" charset="-122"/>
                <a:cs typeface="Calibri" pitchFamily="34" charset="-120"/>
              </a:rPr>
              <a:t>the org's own named assets  —  Earn a flat +30 point bonus</a:t>
            </a:r>
            <a:endParaRPr lang="en-US" sz="1050" dirty="0"/>
          </a:p>
        </p:txBody>
      </p:sp>
      <p:sp>
        <p:nvSpPr>
          <p:cNvPr id="12" name="Shape 10"/>
          <p:cNvSpPr/>
          <p:nvPr/>
        </p:nvSpPr>
        <p:spPr>
          <a:xfrm>
            <a:off x="548640" y="3776472"/>
            <a:ext cx="5486400" cy="749808"/>
          </a:xfrm>
          <a:prstGeom prst="roundRect">
            <a:avLst>
              <a:gd name="adj" fmla="val 7317"/>
            </a:avLst>
          </a:prstGeom>
          <a:solidFill>
            <a:srgbClr val="111A2E"/>
          </a:solidFill>
          <a:ln w="9525">
            <a:solidFill>
              <a:srgbClr val="16223B"/>
            </a:solidFill>
            <a:prstDash val="solid"/>
          </a:ln>
        </p:spPr>
      </p:sp>
      <p:sp>
        <p:nvSpPr>
          <p:cNvPr id="13" name="Text 11"/>
          <p:cNvSpPr/>
          <p:nvPr/>
        </p:nvSpPr>
        <p:spPr>
          <a:xfrm>
            <a:off x="731520" y="3849624"/>
            <a:ext cx="5120640" cy="256032"/>
          </a:xfrm>
          <a:prstGeom prst="rect">
            <a:avLst/>
          </a:prstGeom>
          <a:noFill/>
          <a:ln/>
        </p:spPr>
        <p:txBody>
          <a:bodyPr wrap="square" rtlCol="0" anchor="ctr"/>
          <a:lstStyle/>
          <a:p>
            <a:pPr marL="0" indent="0">
              <a:buNone/>
            </a:pPr>
            <a:r>
              <a:rPr lang="en-US" sz="1300" b="1" dirty="0">
                <a:solidFill>
                  <a:srgbClr val="F2F5FA"/>
                </a:solidFill>
                <a:latin typeface="Cambria" pitchFamily="34" charset="0"/>
                <a:ea typeface="Cambria" pitchFamily="34" charset="-122"/>
                <a:cs typeface="Cambria" pitchFamily="34" charset="-120"/>
              </a:rPr>
              <a:t>Risk Appetite</a:t>
            </a:r>
            <a:endParaRPr lang="en-US" sz="1300" dirty="0"/>
          </a:p>
        </p:txBody>
      </p:sp>
      <p:sp>
        <p:nvSpPr>
          <p:cNvPr id="14" name="Text 12"/>
          <p:cNvSpPr/>
          <p:nvPr/>
        </p:nvSpPr>
        <p:spPr>
          <a:xfrm>
            <a:off x="731520" y="4123944"/>
            <a:ext cx="5120640" cy="329184"/>
          </a:xfrm>
          <a:prstGeom prst="rect">
            <a:avLst/>
          </a:prstGeom>
          <a:noFill/>
          <a:ln/>
        </p:spPr>
        <p:txBody>
          <a:bodyPr wrap="square" rtlCol="0" anchor="ctr"/>
          <a:lstStyle/>
          <a:p>
            <a:pPr marL="0" indent="0">
              <a:buNone/>
            </a:pPr>
            <a:r>
              <a:rPr lang="en-US" sz="1050" dirty="0">
                <a:solidFill>
                  <a:srgbClr val="9AA8C0"/>
                </a:solidFill>
                <a:latin typeface="Calibri" pitchFamily="34" charset="0"/>
                <a:ea typeface="Calibri" pitchFamily="34" charset="-122"/>
                <a:cs typeface="Calibri" pitchFamily="34" charset="-120"/>
              </a:rPr>
              <a:t>Low, High, Zero-Tolerance  —  Context for why the weights differ</a:t>
            </a:r>
            <a:endParaRPr lang="en-US" sz="1050" dirty="0"/>
          </a:p>
        </p:txBody>
      </p:sp>
      <p:sp>
        <p:nvSpPr>
          <p:cNvPr id="15" name="Shape 13"/>
          <p:cNvSpPr/>
          <p:nvPr/>
        </p:nvSpPr>
        <p:spPr>
          <a:xfrm>
            <a:off x="548640" y="4636008"/>
            <a:ext cx="5486400" cy="749808"/>
          </a:xfrm>
          <a:prstGeom prst="roundRect">
            <a:avLst>
              <a:gd name="adj" fmla="val 7317"/>
            </a:avLst>
          </a:prstGeom>
          <a:solidFill>
            <a:srgbClr val="111A2E"/>
          </a:solidFill>
          <a:ln w="9525">
            <a:solidFill>
              <a:srgbClr val="16223B"/>
            </a:solidFill>
            <a:prstDash val="solid"/>
          </a:ln>
        </p:spPr>
      </p:sp>
      <p:sp>
        <p:nvSpPr>
          <p:cNvPr id="16" name="Text 14"/>
          <p:cNvSpPr/>
          <p:nvPr/>
        </p:nvSpPr>
        <p:spPr>
          <a:xfrm>
            <a:off x="731520" y="4709160"/>
            <a:ext cx="5120640" cy="256032"/>
          </a:xfrm>
          <a:prstGeom prst="rect">
            <a:avLst/>
          </a:prstGeom>
          <a:noFill/>
          <a:ln/>
        </p:spPr>
        <p:txBody>
          <a:bodyPr wrap="square" rtlCol="0" anchor="ctr"/>
          <a:lstStyle/>
          <a:p>
            <a:pPr marL="0" indent="0">
              <a:buNone/>
            </a:pPr>
            <a:r>
              <a:rPr lang="en-US" sz="1300" b="1" dirty="0">
                <a:solidFill>
                  <a:srgbClr val="F2F5FA"/>
                </a:solidFill>
                <a:latin typeface="Cambria" pitchFamily="34" charset="0"/>
                <a:ea typeface="Cambria" pitchFamily="34" charset="-122"/>
                <a:cs typeface="Cambria" pitchFamily="34" charset="-120"/>
              </a:rPr>
              <a:t>Sector</a:t>
            </a:r>
            <a:endParaRPr lang="en-US" sz="1300" dirty="0"/>
          </a:p>
        </p:txBody>
      </p:sp>
      <p:sp>
        <p:nvSpPr>
          <p:cNvPr id="17" name="Text 15"/>
          <p:cNvSpPr/>
          <p:nvPr/>
        </p:nvSpPr>
        <p:spPr>
          <a:xfrm>
            <a:off x="731520" y="4983480"/>
            <a:ext cx="5120640" cy="329184"/>
          </a:xfrm>
          <a:prstGeom prst="rect">
            <a:avLst/>
          </a:prstGeom>
          <a:noFill/>
          <a:ln/>
        </p:spPr>
        <p:txBody>
          <a:bodyPr wrap="square" rtlCol="0" anchor="ctr"/>
          <a:lstStyle/>
          <a:p>
            <a:pPr marL="0" indent="0">
              <a:buNone/>
            </a:pPr>
            <a:r>
              <a:rPr lang="en-US" sz="1050" dirty="0">
                <a:solidFill>
                  <a:srgbClr val="9AA8C0"/>
                </a:solidFill>
                <a:latin typeface="Calibri" pitchFamily="34" charset="0"/>
                <a:ea typeface="Calibri" pitchFamily="34" charset="-122"/>
                <a:cs typeface="Calibri" pitchFamily="34" charset="-120"/>
              </a:rPr>
              <a:t>Banking, Tech, Infrastructure  —  identity only, not a scoring input</a:t>
            </a:r>
            <a:endParaRPr lang="en-US" sz="1050" dirty="0"/>
          </a:p>
        </p:txBody>
      </p:sp>
      <p:sp>
        <p:nvSpPr>
          <p:cNvPr id="18" name="Text 16"/>
          <p:cNvSpPr/>
          <p:nvPr/>
        </p:nvSpPr>
        <p:spPr>
          <a:xfrm>
            <a:off x="6446520" y="1691640"/>
            <a:ext cx="521208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HOW THE SCORE IS BUILT</a:t>
            </a:r>
            <a:endParaRPr lang="en-US" sz="1100" dirty="0"/>
          </a:p>
        </p:txBody>
      </p:sp>
      <p:sp>
        <p:nvSpPr>
          <p:cNvPr id="19" name="Shape 17"/>
          <p:cNvSpPr/>
          <p:nvPr/>
        </p:nvSpPr>
        <p:spPr>
          <a:xfrm>
            <a:off x="6446520" y="2103120"/>
            <a:ext cx="5212080" cy="713232"/>
          </a:xfrm>
          <a:prstGeom prst="roundRect">
            <a:avLst>
              <a:gd name="adj" fmla="val 10256"/>
            </a:avLst>
          </a:prstGeom>
          <a:solidFill>
            <a:srgbClr val="16223B"/>
          </a:solidFill>
          <a:ln w="15875">
            <a:solidFill>
              <a:srgbClr val="FF5C5C"/>
            </a:solidFill>
            <a:prstDash val="solid"/>
          </a:ln>
        </p:spPr>
      </p:sp>
      <p:sp>
        <p:nvSpPr>
          <p:cNvPr id="20" name="Text 18"/>
          <p:cNvSpPr/>
          <p:nvPr/>
        </p:nvSpPr>
        <p:spPr>
          <a:xfrm>
            <a:off x="6675120" y="2176272"/>
            <a:ext cx="4754880" cy="274320"/>
          </a:xfrm>
          <a:prstGeom prst="rect">
            <a:avLst/>
          </a:prstGeom>
          <a:noFill/>
          <a:ln/>
        </p:spPr>
        <p:txBody>
          <a:bodyPr wrap="square" rtlCol="0" anchor="ctr"/>
          <a:lstStyle/>
          <a:p>
            <a:pPr marL="0" indent="0">
              <a:buNone/>
            </a:pPr>
            <a:r>
              <a:rPr lang="en-US" sz="1300" b="1" dirty="0">
                <a:solidFill>
                  <a:srgbClr val="FF5C5C"/>
                </a:solidFill>
                <a:latin typeface="Cambria" pitchFamily="34" charset="0"/>
                <a:ea typeface="Cambria" pitchFamily="34" charset="-122"/>
                <a:cs typeface="Cambria" pitchFamily="34" charset="-120"/>
              </a:rPr>
              <a:t>STEP 1 — WEIGH</a:t>
            </a:r>
            <a:endParaRPr lang="en-US" sz="1300" dirty="0"/>
          </a:p>
        </p:txBody>
      </p:sp>
      <p:sp>
        <p:nvSpPr>
          <p:cNvPr id="21" name="Text 19"/>
          <p:cNvSpPr/>
          <p:nvPr/>
        </p:nvSpPr>
        <p:spPr>
          <a:xfrm>
            <a:off x="6675120" y="2450592"/>
            <a:ext cx="4754880" cy="320040"/>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CVSS, KEV and EPSS combined using this org's own weights, scaled to 100</a:t>
            </a:r>
            <a:endParaRPr lang="en-US" sz="1050" dirty="0"/>
          </a:p>
        </p:txBody>
      </p:sp>
      <p:sp>
        <p:nvSpPr>
          <p:cNvPr id="22" name="Shape 20"/>
          <p:cNvSpPr/>
          <p:nvPr/>
        </p:nvSpPr>
        <p:spPr>
          <a:xfrm>
            <a:off x="6446520" y="2971800"/>
            <a:ext cx="5212080" cy="713232"/>
          </a:xfrm>
          <a:prstGeom prst="roundRect">
            <a:avLst>
              <a:gd name="adj" fmla="val 10256"/>
            </a:avLst>
          </a:prstGeom>
          <a:solidFill>
            <a:srgbClr val="16223B"/>
          </a:solidFill>
          <a:ln w="15875">
            <a:solidFill>
              <a:srgbClr val="F4C542"/>
            </a:solidFill>
            <a:prstDash val="solid"/>
          </a:ln>
        </p:spPr>
      </p:sp>
      <p:sp>
        <p:nvSpPr>
          <p:cNvPr id="23" name="Text 21"/>
          <p:cNvSpPr/>
          <p:nvPr/>
        </p:nvSpPr>
        <p:spPr>
          <a:xfrm>
            <a:off x="6675120" y="3044952"/>
            <a:ext cx="4754880" cy="274320"/>
          </a:xfrm>
          <a:prstGeom prst="rect">
            <a:avLst/>
          </a:prstGeom>
          <a:noFill/>
          <a:ln/>
        </p:spPr>
        <p:txBody>
          <a:bodyPr wrap="square" rtlCol="0" anchor="ctr"/>
          <a:lstStyle/>
          <a:p>
            <a:pPr marL="0" indent="0">
              <a:buNone/>
            </a:pPr>
            <a:r>
              <a:rPr lang="en-US" sz="1300" b="1" dirty="0">
                <a:solidFill>
                  <a:srgbClr val="F4C542"/>
                </a:solidFill>
                <a:latin typeface="Cambria" pitchFamily="34" charset="0"/>
                <a:ea typeface="Cambria" pitchFamily="34" charset="-122"/>
                <a:cs typeface="Cambria" pitchFamily="34" charset="-120"/>
              </a:rPr>
              <a:t>STEP 2 — BOOST</a:t>
            </a:r>
            <a:endParaRPr lang="en-US" sz="1300" dirty="0"/>
          </a:p>
        </p:txBody>
      </p:sp>
      <p:sp>
        <p:nvSpPr>
          <p:cNvPr id="24" name="Text 22"/>
          <p:cNvSpPr/>
          <p:nvPr/>
        </p:nvSpPr>
        <p:spPr>
          <a:xfrm>
            <a:off x="6675120" y="3319272"/>
            <a:ext cx="4754880" cy="320040"/>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+30 flat points if the product is on this org's critical asset list</a:t>
            </a:r>
            <a:endParaRPr lang="en-US" sz="1050" dirty="0"/>
          </a:p>
        </p:txBody>
      </p:sp>
      <p:sp>
        <p:nvSpPr>
          <p:cNvPr id="25" name="Shape 23"/>
          <p:cNvSpPr/>
          <p:nvPr/>
        </p:nvSpPr>
        <p:spPr>
          <a:xfrm>
            <a:off x="6446520" y="3840480"/>
            <a:ext cx="5212080" cy="713232"/>
          </a:xfrm>
          <a:prstGeom prst="roundRect">
            <a:avLst>
              <a:gd name="adj" fmla="val 10256"/>
            </a:avLst>
          </a:prstGeom>
          <a:solidFill>
            <a:srgbClr val="16223B"/>
          </a:solidFill>
          <a:ln w="15875">
            <a:solidFill>
              <a:srgbClr val="00E5A0"/>
            </a:solidFill>
            <a:prstDash val="solid"/>
          </a:ln>
        </p:spPr>
      </p:sp>
      <p:sp>
        <p:nvSpPr>
          <p:cNvPr id="26" name="Text 24"/>
          <p:cNvSpPr/>
          <p:nvPr/>
        </p:nvSpPr>
        <p:spPr>
          <a:xfrm>
            <a:off x="6675120" y="3913632"/>
            <a:ext cx="4754880" cy="274320"/>
          </a:xfrm>
          <a:prstGeom prst="rect">
            <a:avLst/>
          </a:prstGeom>
          <a:noFill/>
          <a:ln/>
        </p:spPr>
        <p:txBody>
          <a:bodyPr wrap="square" rtlCol="0" anchor="ctr"/>
          <a:lstStyle/>
          <a:p>
            <a:pPr marL="0" indent="0">
              <a:buNone/>
            </a:pPr>
            <a:r>
              <a:rPr lang="en-US" sz="1300" b="1" dirty="0">
                <a:solidFill>
                  <a:srgbClr val="00E5A0"/>
                </a:solidFill>
                <a:latin typeface="Cambria" pitchFamily="34" charset="0"/>
                <a:ea typeface="Cambria" pitchFamily="34" charset="-122"/>
                <a:cs typeface="Cambria" pitchFamily="34" charset="-120"/>
              </a:rPr>
              <a:t>STEP 3 — RANK</a:t>
            </a:r>
            <a:endParaRPr lang="en-US" sz="1300" dirty="0"/>
          </a:p>
        </p:txBody>
      </p:sp>
      <p:sp>
        <p:nvSpPr>
          <p:cNvPr id="27" name="Text 25"/>
          <p:cNvSpPr/>
          <p:nvPr/>
        </p:nvSpPr>
        <p:spPr>
          <a:xfrm>
            <a:off x="6675120" y="4187952"/>
            <a:ext cx="4754880" cy="320040"/>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Every CVE-product pair sorted high to low; top 5 shown with reasons</a:t>
            </a:r>
            <a:endParaRPr lang="en-US" sz="1050" dirty="0"/>
          </a:p>
        </p:txBody>
      </p:sp>
      <p:sp>
        <p:nvSpPr>
          <p:cNvPr id="28" name="Shape 26"/>
          <p:cNvSpPr/>
          <p:nvPr/>
        </p:nvSpPr>
        <p:spPr>
          <a:xfrm>
            <a:off x="6446520" y="4754880"/>
            <a:ext cx="5212080" cy="1325880"/>
          </a:xfrm>
          <a:prstGeom prst="roundRect">
            <a:avLst>
              <a:gd name="adj" fmla="val 5517"/>
            </a:avLst>
          </a:prstGeom>
          <a:solidFill>
            <a:srgbClr val="0E2A22"/>
          </a:solidFill>
          <a:ln w="12700">
            <a:solidFill>
              <a:srgbClr val="00E5A0"/>
            </a:solidFill>
            <a:prstDash val="solid"/>
          </a:ln>
        </p:spPr>
      </p:sp>
      <p:sp>
        <p:nvSpPr>
          <p:cNvPr id="29" name="Text 27"/>
          <p:cNvSpPr/>
          <p:nvPr/>
        </p:nvSpPr>
        <p:spPr>
          <a:xfrm>
            <a:off x="6675120" y="4864608"/>
            <a:ext cx="4754880" cy="256032"/>
          </a:xfrm>
          <a:prstGeom prst="rect">
            <a:avLst/>
          </a:prstGeom>
          <a:noFill/>
          <a:ln/>
        </p:spPr>
        <p:txBody>
          <a:bodyPr wrap="square" rtlCol="0" anchor="ctr"/>
          <a:lstStyle/>
          <a:p>
            <a:pPr marL="0" indent="0">
              <a:buNone/>
            </a:pPr>
            <a:r>
              <a:rPr lang="en-US" sz="1050" b="1" kern="0" spc="50" dirty="0">
                <a:solidFill>
                  <a:srgbClr val="00E5A0"/>
                </a:solidFill>
                <a:latin typeface="Calibri" pitchFamily="34" charset="0"/>
                <a:ea typeface="Calibri" pitchFamily="34" charset="-122"/>
                <a:cs typeface="Calibri" pitchFamily="34" charset="-120"/>
              </a:rPr>
              <a:t>HOW WE VALIDATED IT</a:t>
            </a:r>
            <a:endParaRPr lang="en-US" sz="1050" dirty="0"/>
          </a:p>
        </p:txBody>
      </p:sp>
      <p:sp>
        <p:nvSpPr>
          <p:cNvPr id="30" name="Text 28"/>
          <p:cNvSpPr/>
          <p:nvPr/>
        </p:nvSpPr>
        <p:spPr>
          <a:xfrm>
            <a:off x="6675120" y="5120640"/>
            <a:ext cx="4754880" cy="914400"/>
          </a:xfrm>
          <a:prstGeom prst="rect">
            <a:avLst/>
          </a:prstGeom>
          <a:noFill/>
          <a:ln/>
        </p:spPr>
        <p:txBody>
          <a:bodyPr wrap="square" rtlCol="0" anchor="ctr"/>
          <a:lstStyle/>
          <a:p>
            <a:pPr marL="0" indent="0">
              <a:lnSpc>
                <a:spcPct val="125000"/>
              </a:lnSpc>
              <a:buNone/>
            </a:pPr>
            <a:r>
              <a:rPr lang="en-US" sz="1050" dirty="0">
                <a:solidFill>
                  <a:srgbClr val="F2F5FA"/>
                </a:solidFill>
                <a:latin typeface="Calibri" pitchFamily="34" charset="0"/>
                <a:ea typeface="Calibri" pitchFamily="34" charset="-122"/>
                <a:cs typeface="Calibri" pitchFamily="34" charset="-120"/>
              </a:rPr>
              <a:t>• Formula reverse-engineered from gold_set.csv, not guessed</a:t>
            </a:r>
            <a:endParaRPr lang="en-US" sz="1050" dirty="0"/>
          </a:p>
          <a:p>
            <a:pPr marL="0" indent="0">
              <a:lnSpc>
                <a:spcPct val="125000"/>
              </a:lnSpc>
              <a:buNone/>
            </a:pPr>
            <a:r>
              <a:rPr lang="en-US" sz="1050" dirty="0">
                <a:solidFill>
                  <a:srgbClr val="F2F5FA"/>
                </a:solidFill>
                <a:latin typeface="Calibri" pitchFamily="34" charset="0"/>
                <a:ea typeface="Calibri" pitchFamily="34" charset="-122"/>
                <a:cs typeface="Calibri" pitchFamily="34" charset="-120"/>
              </a:rPr>
              <a:t>• Reproduces all 10 known practitioner rankings exactly</a:t>
            </a:r>
            <a:endParaRPr lang="en-US" sz="1050" dirty="0"/>
          </a:p>
          <a:p>
            <a:pPr marL="0" indent="0">
              <a:lnSpc>
                <a:spcPct val="125000"/>
              </a:lnSpc>
              <a:buNone/>
            </a:pPr>
            <a:r>
              <a:rPr lang="en-US" sz="1050" dirty="0">
                <a:solidFill>
                  <a:srgbClr val="F2F5FA"/>
                </a:solidFill>
                <a:latin typeface="Calibri" pitchFamily="34" charset="0"/>
                <a:ea typeface="Calibri" pitchFamily="34" charset="-122"/>
                <a:cs typeface="Calibri" pitchFamily="34" charset="-120"/>
              </a:rPr>
              <a:t>• Same engine works on an unseen profile — no hard-coded sector logic</a:t>
            </a:r>
            <a:endParaRPr lang="en-US" sz="1050" dirty="0"/>
          </a:p>
        </p:txBody>
      </p:sp>
      <p:sp>
        <p:nvSpPr>
          <p:cNvPr id="31" name="Text 29"/>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32" name="Text 30"/>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05 · PRIORITISATION</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Rank With Visible, Explainable Evidence</a:t>
            </a:r>
            <a:endParaRPr lang="en-US" sz="3000" dirty="0"/>
          </a:p>
        </p:txBody>
      </p:sp>
      <p:sp>
        <p:nvSpPr>
          <p:cNvPr id="5" name="Text 3"/>
          <p:cNvSpPr/>
          <p:nvPr/>
        </p:nvSpPr>
        <p:spPr>
          <a:xfrm>
            <a:off x="548640" y="1691640"/>
            <a:ext cx="640080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FOUR REAL SIGNALS, EVERY POINT SHOWN PER ITEM</a:t>
            </a:r>
            <a:endParaRPr lang="en-US" sz="1100" dirty="0"/>
          </a:p>
        </p:txBody>
      </p:sp>
      <p:sp>
        <p:nvSpPr>
          <p:cNvPr id="6" name="Shape 4"/>
          <p:cNvSpPr/>
          <p:nvPr/>
        </p:nvSpPr>
        <p:spPr>
          <a:xfrm>
            <a:off x="548640" y="2057400"/>
            <a:ext cx="3246120" cy="658368"/>
          </a:xfrm>
          <a:prstGeom prst="roundRect">
            <a:avLst>
              <a:gd name="adj" fmla="val 8333"/>
            </a:avLst>
          </a:prstGeom>
          <a:solidFill>
            <a:srgbClr val="111A2E"/>
          </a:solidFill>
          <a:ln w="9525">
            <a:solidFill>
              <a:srgbClr val="16223B"/>
            </a:solidFill>
            <a:prstDash val="solid"/>
          </a:ln>
        </p:spPr>
      </p:sp>
      <p:sp>
        <p:nvSpPr>
          <p:cNvPr id="7" name="Text 5"/>
          <p:cNvSpPr/>
          <p:nvPr/>
        </p:nvSpPr>
        <p:spPr>
          <a:xfrm>
            <a:off x="685800" y="2112264"/>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Confirmed exploitation</a:t>
            </a:r>
            <a:endParaRPr lang="en-US" sz="1150" dirty="0"/>
          </a:p>
        </p:txBody>
      </p:sp>
      <p:sp>
        <p:nvSpPr>
          <p:cNvPr id="8" name="Text 6"/>
          <p:cNvSpPr/>
          <p:nvPr/>
        </p:nvSpPr>
        <p:spPr>
          <a:xfrm>
            <a:off x="685800" y="2368296"/>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CISA KEV  —  Strongest signal — already used in the wild</a:t>
            </a:r>
            <a:endParaRPr lang="en-US" sz="900" dirty="0"/>
          </a:p>
        </p:txBody>
      </p:sp>
      <p:sp>
        <p:nvSpPr>
          <p:cNvPr id="9" name="Shape 7"/>
          <p:cNvSpPr/>
          <p:nvPr/>
        </p:nvSpPr>
        <p:spPr>
          <a:xfrm>
            <a:off x="4069080" y="2057400"/>
            <a:ext cx="3246120" cy="658368"/>
          </a:xfrm>
          <a:prstGeom prst="roundRect">
            <a:avLst>
              <a:gd name="adj" fmla="val 8333"/>
            </a:avLst>
          </a:prstGeom>
          <a:solidFill>
            <a:srgbClr val="111A2E"/>
          </a:solidFill>
          <a:ln w="9525">
            <a:solidFill>
              <a:srgbClr val="16223B"/>
            </a:solidFill>
            <a:prstDash val="solid"/>
          </a:ln>
        </p:spPr>
      </p:sp>
      <p:sp>
        <p:nvSpPr>
          <p:cNvPr id="10" name="Text 8"/>
          <p:cNvSpPr/>
          <p:nvPr/>
        </p:nvSpPr>
        <p:spPr>
          <a:xfrm>
            <a:off x="4206240" y="2112264"/>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Exploitation probability</a:t>
            </a:r>
            <a:endParaRPr lang="en-US" sz="1150" dirty="0"/>
          </a:p>
        </p:txBody>
      </p:sp>
      <p:sp>
        <p:nvSpPr>
          <p:cNvPr id="11" name="Text 9"/>
          <p:cNvSpPr/>
          <p:nvPr/>
        </p:nvSpPr>
        <p:spPr>
          <a:xfrm>
            <a:off x="4206240" y="2368296"/>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FIRST EPSS  —  Forward-looking likelihood for non-KEV items</a:t>
            </a:r>
            <a:endParaRPr lang="en-US" sz="900" dirty="0"/>
          </a:p>
        </p:txBody>
      </p:sp>
      <p:sp>
        <p:nvSpPr>
          <p:cNvPr id="12" name="Shape 10"/>
          <p:cNvSpPr/>
          <p:nvPr/>
        </p:nvSpPr>
        <p:spPr>
          <a:xfrm>
            <a:off x="548640" y="2843784"/>
            <a:ext cx="3246120" cy="658368"/>
          </a:xfrm>
          <a:prstGeom prst="roundRect">
            <a:avLst>
              <a:gd name="adj" fmla="val 8333"/>
            </a:avLst>
          </a:prstGeom>
          <a:solidFill>
            <a:srgbClr val="111A2E"/>
          </a:solidFill>
          <a:ln w="9525">
            <a:solidFill>
              <a:srgbClr val="16223B"/>
            </a:solidFill>
            <a:prstDash val="solid"/>
          </a:ln>
        </p:spPr>
      </p:sp>
      <p:sp>
        <p:nvSpPr>
          <p:cNvPr id="13" name="Text 11"/>
          <p:cNvSpPr/>
          <p:nvPr/>
        </p:nvSpPr>
        <p:spPr>
          <a:xfrm>
            <a:off x="685800" y="2898648"/>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Business-critical asset</a:t>
            </a:r>
            <a:endParaRPr lang="en-US" sz="1150" dirty="0"/>
          </a:p>
        </p:txBody>
      </p:sp>
      <p:sp>
        <p:nvSpPr>
          <p:cNvPr id="14" name="Text 12"/>
          <p:cNvSpPr/>
          <p:nvPr/>
        </p:nvSpPr>
        <p:spPr>
          <a:xfrm>
            <a:off x="685800" y="3154680"/>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Profile  —  On the org's critical_products list: flat +30 bonus</a:t>
            </a:r>
            <a:endParaRPr lang="en-US" sz="900" dirty="0"/>
          </a:p>
        </p:txBody>
      </p:sp>
      <p:sp>
        <p:nvSpPr>
          <p:cNvPr id="15" name="Shape 13"/>
          <p:cNvSpPr/>
          <p:nvPr/>
        </p:nvSpPr>
        <p:spPr>
          <a:xfrm>
            <a:off x="4069080" y="2843784"/>
            <a:ext cx="3246120" cy="658368"/>
          </a:xfrm>
          <a:prstGeom prst="roundRect">
            <a:avLst>
              <a:gd name="adj" fmla="val 8333"/>
            </a:avLst>
          </a:prstGeom>
          <a:solidFill>
            <a:srgbClr val="111A2E"/>
          </a:solidFill>
          <a:ln w="9525">
            <a:solidFill>
              <a:srgbClr val="16223B"/>
            </a:solidFill>
            <a:prstDash val="solid"/>
          </a:ln>
        </p:spPr>
      </p:sp>
      <p:sp>
        <p:nvSpPr>
          <p:cNvPr id="16" name="Text 14"/>
          <p:cNvSpPr/>
          <p:nvPr/>
        </p:nvSpPr>
        <p:spPr>
          <a:xfrm>
            <a:off x="4206240" y="2898648"/>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Org's own weighting</a:t>
            </a:r>
            <a:endParaRPr lang="en-US" sz="1150" dirty="0"/>
          </a:p>
        </p:txBody>
      </p:sp>
      <p:sp>
        <p:nvSpPr>
          <p:cNvPr id="17" name="Text 15"/>
          <p:cNvSpPr/>
          <p:nvPr/>
        </p:nvSpPr>
        <p:spPr>
          <a:xfrm>
            <a:off x="4206240" y="3154680"/>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Profile  —  Bank favours KEV; startup favours EPSS 60%</a:t>
            </a:r>
            <a:endParaRPr lang="en-US" sz="900" dirty="0"/>
          </a:p>
        </p:txBody>
      </p:sp>
      <p:sp>
        <p:nvSpPr>
          <p:cNvPr id="18" name="Shape 16"/>
          <p:cNvSpPr/>
          <p:nvPr/>
        </p:nvSpPr>
        <p:spPr>
          <a:xfrm>
            <a:off x="548640" y="3630168"/>
            <a:ext cx="3246120" cy="658368"/>
          </a:xfrm>
          <a:prstGeom prst="roundRect">
            <a:avLst>
              <a:gd name="adj" fmla="val 8333"/>
            </a:avLst>
          </a:prstGeom>
          <a:solidFill>
            <a:srgbClr val="111A2E"/>
          </a:solidFill>
          <a:ln w="9525">
            <a:solidFill>
              <a:srgbClr val="16223B"/>
            </a:solidFill>
            <a:prstDash val="solid"/>
          </a:ln>
        </p:spPr>
      </p:sp>
      <p:sp>
        <p:nvSpPr>
          <p:cNvPr id="19" name="Text 17"/>
          <p:cNvSpPr/>
          <p:nvPr/>
        </p:nvSpPr>
        <p:spPr>
          <a:xfrm>
            <a:off x="685800" y="3685032"/>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Technical severity</a:t>
            </a:r>
            <a:endParaRPr lang="en-US" sz="1150" dirty="0"/>
          </a:p>
        </p:txBody>
      </p:sp>
      <p:sp>
        <p:nvSpPr>
          <p:cNvPr id="20" name="Text 18"/>
          <p:cNvSpPr/>
          <p:nvPr/>
        </p:nvSpPr>
        <p:spPr>
          <a:xfrm>
            <a:off x="685800" y="3941064"/>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NVD CVSS  —  Useful context, never sufficient alone</a:t>
            </a:r>
            <a:endParaRPr lang="en-US" sz="900" dirty="0"/>
          </a:p>
        </p:txBody>
      </p:sp>
      <p:sp>
        <p:nvSpPr>
          <p:cNvPr id="21" name="Shape 19"/>
          <p:cNvSpPr/>
          <p:nvPr/>
        </p:nvSpPr>
        <p:spPr>
          <a:xfrm>
            <a:off x="4069080" y="3630168"/>
            <a:ext cx="3246120" cy="658368"/>
          </a:xfrm>
          <a:prstGeom prst="roundRect">
            <a:avLst>
              <a:gd name="adj" fmla="val 8333"/>
            </a:avLst>
          </a:prstGeom>
          <a:solidFill>
            <a:srgbClr val="111A2E"/>
          </a:solidFill>
          <a:ln w="9525">
            <a:solidFill>
              <a:srgbClr val="16223B"/>
            </a:solidFill>
            <a:prstDash val="solid"/>
          </a:ln>
        </p:spPr>
      </p:sp>
      <p:sp>
        <p:nvSpPr>
          <p:cNvPr id="22" name="Text 20"/>
          <p:cNvSpPr/>
          <p:nvPr/>
        </p:nvSpPr>
        <p:spPr>
          <a:xfrm>
            <a:off x="4206240" y="3685032"/>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Formula, validated</a:t>
            </a:r>
            <a:endParaRPr lang="en-US" sz="1150" dirty="0"/>
          </a:p>
        </p:txBody>
      </p:sp>
      <p:sp>
        <p:nvSpPr>
          <p:cNvPr id="23" name="Text 21"/>
          <p:cNvSpPr/>
          <p:nvPr/>
        </p:nvSpPr>
        <p:spPr>
          <a:xfrm>
            <a:off x="4206240" y="3941064"/>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gold_set.csv  —  10/10 practitioner ranks match, exactly</a:t>
            </a:r>
            <a:endParaRPr lang="en-US" sz="900" dirty="0"/>
          </a:p>
        </p:txBody>
      </p:sp>
      <p:sp>
        <p:nvSpPr>
          <p:cNvPr id="24" name="Shape 22"/>
          <p:cNvSpPr/>
          <p:nvPr/>
        </p:nvSpPr>
        <p:spPr>
          <a:xfrm>
            <a:off x="548640" y="4709160"/>
            <a:ext cx="6766560" cy="1417320"/>
          </a:xfrm>
          <a:prstGeom prst="roundRect">
            <a:avLst>
              <a:gd name="adj" fmla="val 5161"/>
            </a:avLst>
          </a:prstGeom>
          <a:solidFill>
            <a:srgbClr val="16223B"/>
          </a:solidFill>
          <a:ln w="15875">
            <a:solidFill>
              <a:srgbClr val="F4C542"/>
            </a:solidFill>
            <a:prstDash val="solid"/>
          </a:ln>
        </p:spPr>
      </p:sp>
      <p:sp>
        <p:nvSpPr>
          <p:cNvPr id="25" name="Text 23"/>
          <p:cNvSpPr/>
          <p:nvPr/>
        </p:nvSpPr>
        <p:spPr>
          <a:xfrm>
            <a:off x="777240" y="4818888"/>
            <a:ext cx="6309360" cy="256032"/>
          </a:xfrm>
          <a:prstGeom prst="rect">
            <a:avLst/>
          </a:prstGeom>
          <a:noFill/>
          <a:ln/>
        </p:spPr>
        <p:txBody>
          <a:bodyPr wrap="square" rtlCol="0" anchor="ctr"/>
          <a:lstStyle/>
          <a:p>
            <a:pPr marL="0" indent="0">
              <a:buNone/>
            </a:pPr>
            <a:r>
              <a:rPr lang="en-US" sz="1050" b="1" kern="0" spc="50" dirty="0">
                <a:solidFill>
                  <a:srgbClr val="F4C542"/>
                </a:solidFill>
                <a:latin typeface="Calibri" pitchFamily="34" charset="0"/>
                <a:ea typeface="Calibri" pitchFamily="34" charset="-122"/>
                <a:cs typeface="Calibri" pitchFamily="34" charset="-120"/>
              </a:rPr>
              <a:t>REAL EXAMPLE — MUNICIPAL UTILITY PROVIDER</a:t>
            </a:r>
            <a:endParaRPr lang="en-US" sz="1050" dirty="0"/>
          </a:p>
        </p:txBody>
      </p:sp>
      <p:sp>
        <p:nvSpPr>
          <p:cNvPr id="26" name="Text 24"/>
          <p:cNvSpPr/>
          <p:nvPr/>
        </p:nvSpPr>
        <p:spPr>
          <a:xfrm>
            <a:off x="777240" y="5166360"/>
            <a:ext cx="6309360" cy="365760"/>
          </a:xfrm>
          <a:prstGeom prst="rect">
            <a:avLst/>
          </a:prstGeom>
          <a:noFill/>
          <a:ln/>
        </p:spPr>
        <p:txBody>
          <a:bodyPr wrap="square" rtlCol="0" anchor="ctr"/>
          <a:lstStyle/>
          <a:p>
            <a:pPr marL="0" indent="0">
              <a:buNone/>
            </a:pPr>
            <a:r>
              <a:rPr lang="en-US" sz="1250" dirty="0">
                <a:solidFill>
                  <a:srgbClr val="F2F5FA"/>
                </a:solidFill>
                <a:latin typeface="Calibri" pitchFamily="34" charset="0"/>
                <a:ea typeface="Calibri" pitchFamily="34" charset="-122"/>
                <a:cs typeface="Calibri" pitchFamily="34" charset="-120"/>
              </a:rPr>
              <a:t>CVSS 8.9×50%  ·  KEV yes×40%  ·  EPSS 0.92×10%  ·  critical-asset bonus</a:t>
            </a:r>
            <a:endParaRPr lang="en-US" sz="1250" dirty="0"/>
          </a:p>
        </p:txBody>
      </p:sp>
      <p:sp>
        <p:nvSpPr>
          <p:cNvPr id="27" name="Text 25"/>
          <p:cNvSpPr/>
          <p:nvPr/>
        </p:nvSpPr>
        <p:spPr>
          <a:xfrm>
            <a:off x="777240" y="5605272"/>
            <a:ext cx="6309360" cy="411480"/>
          </a:xfrm>
          <a:prstGeom prst="rect">
            <a:avLst/>
          </a:prstGeom>
          <a:noFill/>
          <a:ln/>
        </p:spPr>
        <p:txBody>
          <a:bodyPr wrap="square" rtlCol="0" anchor="ctr"/>
          <a:lstStyle/>
          <a:p>
            <a:pPr marL="0" indent="0">
              <a:buNone/>
            </a:pPr>
            <a:r>
              <a:rPr lang="en-US" sz="1800" b="1" dirty="0">
                <a:solidFill>
                  <a:srgbClr val="00E5A0"/>
                </a:solidFill>
                <a:latin typeface="Cambria" pitchFamily="34" charset="0"/>
                <a:ea typeface="Cambria" pitchFamily="34" charset="-122"/>
                <a:cs typeface="Cambria" pitchFamily="34" charset="-120"/>
              </a:rPr>
              <a:t>= 124  →  URGENT (CVE-2025-3368, Enterprise Router OS)</a:t>
            </a:r>
            <a:endParaRPr lang="en-US" sz="1800" dirty="0"/>
          </a:p>
        </p:txBody>
      </p:sp>
      <p:sp>
        <p:nvSpPr>
          <p:cNvPr id="28" name="Shape 26"/>
          <p:cNvSpPr/>
          <p:nvPr/>
        </p:nvSpPr>
        <p:spPr>
          <a:xfrm>
            <a:off x="7498080" y="4709160"/>
            <a:ext cx="4160520" cy="1417320"/>
          </a:xfrm>
          <a:prstGeom prst="roundRect">
            <a:avLst>
              <a:gd name="adj" fmla="val 5161"/>
            </a:avLst>
          </a:prstGeom>
          <a:solidFill>
            <a:srgbClr val="2A1414"/>
          </a:solidFill>
          <a:ln w="15875">
            <a:solidFill>
              <a:srgbClr val="FF5C5C"/>
            </a:solidFill>
            <a:prstDash val="solid"/>
          </a:ln>
        </p:spPr>
      </p:sp>
      <p:sp>
        <p:nvSpPr>
          <p:cNvPr id="29" name="Text 27"/>
          <p:cNvSpPr/>
          <p:nvPr/>
        </p:nvSpPr>
        <p:spPr>
          <a:xfrm>
            <a:off x="7726680" y="4818888"/>
            <a:ext cx="3703320" cy="256032"/>
          </a:xfrm>
          <a:prstGeom prst="rect">
            <a:avLst/>
          </a:prstGeom>
          <a:noFill/>
          <a:ln/>
        </p:spPr>
        <p:txBody>
          <a:bodyPr wrap="square" rtlCol="0" anchor="ctr"/>
          <a:lstStyle/>
          <a:p>
            <a:pPr marL="0" indent="0">
              <a:buNone/>
            </a:pPr>
            <a:r>
              <a:rPr lang="en-US" sz="1050" b="1" kern="0" spc="50" dirty="0">
                <a:solidFill>
                  <a:srgbClr val="FF5C5C"/>
                </a:solidFill>
                <a:latin typeface="Calibri" pitchFamily="34" charset="0"/>
                <a:ea typeface="Calibri" pitchFamily="34" charset="-122"/>
                <a:cs typeface="Calibri" pitchFamily="34" charset="-120"/>
              </a:rPr>
              <a:t>REQUIRED NEGATIVE TEST</a:t>
            </a:r>
            <a:endParaRPr lang="en-US" sz="1050" dirty="0"/>
          </a:p>
        </p:txBody>
      </p:sp>
      <p:sp>
        <p:nvSpPr>
          <p:cNvPr id="30" name="Text 28"/>
          <p:cNvSpPr/>
          <p:nvPr/>
        </p:nvSpPr>
        <p:spPr>
          <a:xfrm>
            <a:off x="7726680" y="5120640"/>
            <a:ext cx="3703320" cy="914400"/>
          </a:xfrm>
          <a:prstGeom prst="rect">
            <a:avLst/>
          </a:prstGeom>
          <a:noFill/>
          <a:ln/>
        </p:spPr>
        <p:txBody>
          <a:bodyPr wrap="square" rtlCol="0" anchor="ctr"/>
          <a:lstStyle/>
          <a:p>
            <a:pPr marL="0" indent="0">
              <a:lnSpc>
                <a:spcPct val="120000"/>
              </a:lnSpc>
              <a:buNone/>
            </a:pPr>
            <a:r>
              <a:rPr lang="en-US" sz="1100" dirty="0">
                <a:solidFill>
                  <a:srgbClr val="F2F5FA"/>
                </a:solidFill>
                <a:latin typeface="Calibri" pitchFamily="34" charset="0"/>
                <a:ea typeface="Calibri" pitchFamily="34" charset="-122"/>
                <a:cs typeface="Calibri" pitchFamily="34" charset="-120"/>
              </a:rPr>
              <a:t>CVE-2024-1851 scores a perfect CVSS 10.0 and sits on the org's own critical list — but zero KEV and 2% EPSS still keep it out of the top 5. Severity alone never wins.</a:t>
            </a:r>
            <a:endParaRPr lang="en-US" sz="1100" dirty="0"/>
          </a:p>
        </p:txBody>
      </p:sp>
      <p:sp>
        <p:nvSpPr>
          <p:cNvPr id="31" name="Text 29"/>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32" name="Text 30"/>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05B · PROOF</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We Didn’t Just Trust Our Formula — We Tested It</a:t>
            </a:r>
            <a:endParaRPr lang="en-US" sz="3000" dirty="0"/>
          </a:p>
        </p:txBody>
      </p:sp>
      <p:sp>
        <p:nvSpPr>
          <p:cNvPr id="5" name="Text 3"/>
          <p:cNvSpPr/>
          <p:nvPr/>
        </p:nvSpPr>
        <p:spPr>
          <a:xfrm>
            <a:off x="548640" y="1691640"/>
            <a:ext cx="640080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GOLD_SET.CSV: 5 CVES, RANKED BY REAL PRACTITIONERS</a:t>
            </a:r>
            <a:endParaRPr lang="en-US" sz="1100" dirty="0"/>
          </a:p>
        </p:txBody>
      </p:sp>
      <p:sp>
        <p:nvSpPr>
          <p:cNvPr id="6" name="Shape 4"/>
          <p:cNvSpPr/>
          <p:nvPr/>
        </p:nvSpPr>
        <p:spPr>
          <a:xfrm>
            <a:off x="548640" y="2057400"/>
            <a:ext cx="3246120" cy="658368"/>
          </a:xfrm>
          <a:prstGeom prst="roundRect">
            <a:avLst>
              <a:gd name="adj" fmla="val 8333"/>
            </a:avLst>
          </a:prstGeom>
          <a:solidFill>
            <a:srgbClr val="111A2E"/>
          </a:solidFill>
          <a:ln w="9525">
            <a:solidFill>
              <a:srgbClr val="16223B"/>
            </a:solidFill>
            <a:prstDash val="solid"/>
          </a:ln>
        </p:spPr>
      </p:sp>
      <p:sp>
        <p:nvSpPr>
          <p:cNvPr id="7" name="Text 5"/>
          <p:cNvSpPr/>
          <p:nvPr/>
        </p:nvSpPr>
        <p:spPr>
          <a:xfrm>
            <a:off x="685800" y="2112264"/>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CVE-2025-1111</a:t>
            </a:r>
            <a:endParaRPr lang="en-US" sz="1150" dirty="0"/>
          </a:p>
        </p:txBody>
      </p:sp>
      <p:sp>
        <p:nvSpPr>
          <p:cNvPr id="8" name="Text 6"/>
          <p:cNvSpPr/>
          <p:nvPr/>
        </p:nvSpPr>
        <p:spPr>
          <a:xfrm>
            <a:off x="685800" y="2368296"/>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Core Banking Framework — Bank rank 1 · Startup rank 2 — matched</a:t>
            </a:r>
            <a:endParaRPr lang="en-US" sz="900" dirty="0"/>
          </a:p>
        </p:txBody>
      </p:sp>
      <p:sp>
        <p:nvSpPr>
          <p:cNvPr id="9" name="Shape 7"/>
          <p:cNvSpPr/>
          <p:nvPr/>
        </p:nvSpPr>
        <p:spPr>
          <a:xfrm>
            <a:off x="4069080" y="2057400"/>
            <a:ext cx="3246120" cy="658368"/>
          </a:xfrm>
          <a:prstGeom prst="roundRect">
            <a:avLst>
              <a:gd name="adj" fmla="val 8333"/>
            </a:avLst>
          </a:prstGeom>
          <a:solidFill>
            <a:srgbClr val="111A2E"/>
          </a:solidFill>
          <a:ln w="9525">
            <a:solidFill>
              <a:srgbClr val="16223B"/>
            </a:solidFill>
            <a:prstDash val="solid"/>
          </a:ln>
        </p:spPr>
      </p:sp>
      <p:sp>
        <p:nvSpPr>
          <p:cNvPr id="10" name="Text 8"/>
          <p:cNvSpPr/>
          <p:nvPr/>
        </p:nvSpPr>
        <p:spPr>
          <a:xfrm>
            <a:off x="4206240" y="2112264"/>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CVE-2026-2222</a:t>
            </a:r>
            <a:endParaRPr lang="en-US" sz="1150" dirty="0"/>
          </a:p>
        </p:txBody>
      </p:sp>
      <p:sp>
        <p:nvSpPr>
          <p:cNvPr id="11" name="Text 9"/>
          <p:cNvSpPr/>
          <p:nvPr/>
        </p:nvSpPr>
        <p:spPr>
          <a:xfrm>
            <a:off x="4206240" y="2368296"/>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Cloud Database Engine — Bank rank 4 · Startup rank 1 — matched</a:t>
            </a:r>
            <a:endParaRPr lang="en-US" sz="900" dirty="0"/>
          </a:p>
        </p:txBody>
      </p:sp>
      <p:sp>
        <p:nvSpPr>
          <p:cNvPr id="12" name="Shape 10"/>
          <p:cNvSpPr/>
          <p:nvPr/>
        </p:nvSpPr>
        <p:spPr>
          <a:xfrm>
            <a:off x="548640" y="2843784"/>
            <a:ext cx="3246120" cy="658368"/>
          </a:xfrm>
          <a:prstGeom prst="roundRect">
            <a:avLst>
              <a:gd name="adj" fmla="val 8333"/>
            </a:avLst>
          </a:prstGeom>
          <a:solidFill>
            <a:srgbClr val="111A2E"/>
          </a:solidFill>
          <a:ln w="9525">
            <a:solidFill>
              <a:srgbClr val="16223B"/>
            </a:solidFill>
            <a:prstDash val="solid"/>
          </a:ln>
        </p:spPr>
      </p:sp>
      <p:sp>
        <p:nvSpPr>
          <p:cNvPr id="13" name="Text 11"/>
          <p:cNvSpPr/>
          <p:nvPr/>
        </p:nvSpPr>
        <p:spPr>
          <a:xfrm>
            <a:off x="685800" y="2898648"/>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CVE-2024-3333</a:t>
            </a:r>
            <a:endParaRPr lang="en-US" sz="1150" dirty="0"/>
          </a:p>
        </p:txBody>
      </p:sp>
      <p:sp>
        <p:nvSpPr>
          <p:cNvPr id="14" name="Text 12"/>
          <p:cNvSpPr/>
          <p:nvPr/>
        </p:nvSpPr>
        <p:spPr>
          <a:xfrm>
            <a:off x="685800" y="3154680"/>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Embedded IoT Gateway — Bank rank 3 · Startup rank 4 — matched</a:t>
            </a:r>
            <a:endParaRPr lang="en-US" sz="900" dirty="0"/>
          </a:p>
        </p:txBody>
      </p:sp>
      <p:sp>
        <p:nvSpPr>
          <p:cNvPr id="15" name="Shape 13"/>
          <p:cNvSpPr/>
          <p:nvPr/>
        </p:nvSpPr>
        <p:spPr>
          <a:xfrm>
            <a:off x="4069080" y="2843784"/>
            <a:ext cx="3246120" cy="658368"/>
          </a:xfrm>
          <a:prstGeom prst="roundRect">
            <a:avLst>
              <a:gd name="adj" fmla="val 8333"/>
            </a:avLst>
          </a:prstGeom>
          <a:solidFill>
            <a:srgbClr val="111A2E"/>
          </a:solidFill>
          <a:ln w="9525">
            <a:solidFill>
              <a:srgbClr val="16223B"/>
            </a:solidFill>
            <a:prstDash val="solid"/>
          </a:ln>
        </p:spPr>
      </p:sp>
      <p:sp>
        <p:nvSpPr>
          <p:cNvPr id="16" name="Text 14"/>
          <p:cNvSpPr/>
          <p:nvPr/>
        </p:nvSpPr>
        <p:spPr>
          <a:xfrm>
            <a:off x="4206240" y="2898648"/>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CVE-2025-4444</a:t>
            </a:r>
            <a:endParaRPr lang="en-US" sz="1150" dirty="0"/>
          </a:p>
        </p:txBody>
      </p:sp>
      <p:sp>
        <p:nvSpPr>
          <p:cNvPr id="17" name="Text 15"/>
          <p:cNvSpPr/>
          <p:nvPr/>
        </p:nvSpPr>
        <p:spPr>
          <a:xfrm>
            <a:off x="4206240" y="3154680"/>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Identity Provider SaaS — Bank rank 2 · Startup rank 3 — matched</a:t>
            </a:r>
            <a:endParaRPr lang="en-US" sz="900" dirty="0"/>
          </a:p>
        </p:txBody>
      </p:sp>
      <p:sp>
        <p:nvSpPr>
          <p:cNvPr id="18" name="Shape 16"/>
          <p:cNvSpPr/>
          <p:nvPr/>
        </p:nvSpPr>
        <p:spPr>
          <a:xfrm>
            <a:off x="548640" y="3630168"/>
            <a:ext cx="3246120" cy="658368"/>
          </a:xfrm>
          <a:prstGeom prst="roundRect">
            <a:avLst>
              <a:gd name="adj" fmla="val 8333"/>
            </a:avLst>
          </a:prstGeom>
          <a:solidFill>
            <a:srgbClr val="111A2E"/>
          </a:solidFill>
          <a:ln w="9525">
            <a:solidFill>
              <a:srgbClr val="16223B"/>
            </a:solidFill>
            <a:prstDash val="solid"/>
          </a:ln>
        </p:spPr>
      </p:sp>
      <p:sp>
        <p:nvSpPr>
          <p:cNvPr id="19" name="Text 17"/>
          <p:cNvSpPr/>
          <p:nvPr/>
        </p:nvSpPr>
        <p:spPr>
          <a:xfrm>
            <a:off x="685800" y="3685032"/>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CVE-2024-5555</a:t>
            </a:r>
            <a:endParaRPr lang="en-US" sz="1150" dirty="0"/>
          </a:p>
        </p:txBody>
      </p:sp>
      <p:sp>
        <p:nvSpPr>
          <p:cNvPr id="20" name="Text 18"/>
          <p:cNvSpPr/>
          <p:nvPr/>
        </p:nvSpPr>
        <p:spPr>
          <a:xfrm>
            <a:off x="685800" y="3941064"/>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Enterprise Router OS — Bank rank 5 · Startup rank 5 — matched</a:t>
            </a:r>
            <a:endParaRPr lang="en-US" sz="900" dirty="0"/>
          </a:p>
        </p:txBody>
      </p:sp>
      <p:sp>
        <p:nvSpPr>
          <p:cNvPr id="21" name="Shape 19"/>
          <p:cNvSpPr/>
          <p:nvPr/>
        </p:nvSpPr>
        <p:spPr>
          <a:xfrm>
            <a:off x="4069080" y="3630168"/>
            <a:ext cx="3246120" cy="658368"/>
          </a:xfrm>
          <a:prstGeom prst="roundRect">
            <a:avLst>
              <a:gd name="adj" fmla="val 8333"/>
            </a:avLst>
          </a:prstGeom>
          <a:solidFill>
            <a:srgbClr val="111A2E"/>
          </a:solidFill>
          <a:ln w="9525">
            <a:solidFill>
              <a:srgbClr val="16223B"/>
            </a:solidFill>
            <a:prstDash val="solid"/>
          </a:ln>
        </p:spPr>
      </p:sp>
      <p:sp>
        <p:nvSpPr>
          <p:cNvPr id="22" name="Text 20"/>
          <p:cNvSpPr/>
          <p:nvPr/>
        </p:nvSpPr>
        <p:spPr>
          <a:xfrm>
            <a:off x="4206240" y="3685032"/>
            <a:ext cx="2971800" cy="256032"/>
          </a:xfrm>
          <a:prstGeom prst="rect">
            <a:avLst/>
          </a:prstGeom>
          <a:noFill/>
          <a:ln/>
        </p:spPr>
        <p:txBody>
          <a:bodyPr wrap="square" rtlCol="0" anchor="ctr"/>
          <a:lstStyle/>
          <a:p>
            <a:pPr marL="0" indent="0">
              <a:buNone/>
            </a:pPr>
            <a:r>
              <a:rPr lang="en-US" sz="1150" b="1" dirty="0">
                <a:solidFill>
                  <a:srgbClr val="F2F5FA"/>
                </a:solidFill>
                <a:latin typeface="Cambria" pitchFamily="34" charset="0"/>
                <a:ea typeface="Cambria" pitchFamily="34" charset="-122"/>
                <a:cs typeface="Cambria" pitchFamily="34" charset="-120"/>
              </a:rPr>
              <a:t>The result</a:t>
            </a:r>
            <a:endParaRPr lang="en-US" sz="1150" dirty="0"/>
          </a:p>
        </p:txBody>
      </p:sp>
      <p:sp>
        <p:nvSpPr>
          <p:cNvPr id="23" name="Text 21"/>
          <p:cNvSpPr/>
          <p:nvPr/>
        </p:nvSpPr>
        <p:spPr>
          <a:xfrm>
            <a:off x="4206240" y="3941064"/>
            <a:ext cx="2971800" cy="310896"/>
          </a:xfrm>
          <a:prstGeom prst="rect">
            <a:avLst/>
          </a:prstGeom>
          <a:noFill/>
          <a:ln/>
        </p:spPr>
        <p:txBody>
          <a:bodyPr wrap="square" rtlCol="0" anchor="ctr"/>
          <a:lstStyle/>
          <a:p>
            <a:pPr marL="0" indent="0">
              <a:buNone/>
            </a:pPr>
            <a:r>
              <a:rPr lang="en-US" sz="900" dirty="0">
                <a:solidFill>
                  <a:srgbClr val="9AA8C0"/>
                </a:solidFill>
                <a:latin typeface="Calibri" pitchFamily="34" charset="0"/>
                <a:ea typeface="Calibri" pitchFamily="34" charset="-122"/>
                <a:cs typeface="Calibri" pitchFamily="34" charset="-120"/>
              </a:rPr>
              <a:t>10 out of 10 rankings matched exactly. Zero tuning after the fact.</a:t>
            </a:r>
            <a:endParaRPr lang="en-US" sz="900" dirty="0"/>
          </a:p>
        </p:txBody>
      </p:sp>
      <p:sp>
        <p:nvSpPr>
          <p:cNvPr id="24" name="Shape 22"/>
          <p:cNvSpPr/>
          <p:nvPr/>
        </p:nvSpPr>
        <p:spPr>
          <a:xfrm>
            <a:off x="548640" y="4709160"/>
            <a:ext cx="6766560" cy="1417320"/>
          </a:xfrm>
          <a:prstGeom prst="roundRect">
            <a:avLst>
              <a:gd name="adj" fmla="val 5161"/>
            </a:avLst>
          </a:prstGeom>
          <a:solidFill>
            <a:srgbClr val="16223B"/>
          </a:solidFill>
          <a:ln w="15875">
            <a:solidFill>
              <a:srgbClr val="F4C542"/>
            </a:solidFill>
            <a:prstDash val="solid"/>
          </a:ln>
        </p:spPr>
      </p:sp>
      <p:sp>
        <p:nvSpPr>
          <p:cNvPr id="25" name="Text 23"/>
          <p:cNvSpPr/>
          <p:nvPr/>
        </p:nvSpPr>
        <p:spPr>
          <a:xfrm>
            <a:off x="777240" y="4818888"/>
            <a:ext cx="6309360" cy="256032"/>
          </a:xfrm>
          <a:prstGeom prst="rect">
            <a:avLst/>
          </a:prstGeom>
          <a:noFill/>
          <a:ln/>
        </p:spPr>
        <p:txBody>
          <a:bodyPr wrap="square" rtlCol="0" anchor="ctr"/>
          <a:lstStyle/>
          <a:p>
            <a:pPr marL="0" indent="0">
              <a:buNone/>
            </a:pPr>
            <a:r>
              <a:rPr lang="en-US" sz="1050" b="1" kern="0" spc="50" dirty="0">
                <a:solidFill>
                  <a:srgbClr val="F4C542"/>
                </a:solidFill>
                <a:latin typeface="Calibri" pitchFamily="34" charset="0"/>
                <a:ea typeface="Calibri" pitchFamily="34" charset="-122"/>
                <a:cs typeface="Calibri" pitchFamily="34" charset="-120"/>
              </a:rPr>
              <a:t>HOW WE FOUND THE FORMULA</a:t>
            </a:r>
            <a:endParaRPr lang="en-US" sz="1050" dirty="0"/>
          </a:p>
        </p:txBody>
      </p:sp>
      <p:sp>
        <p:nvSpPr>
          <p:cNvPr id="26" name="Text 24"/>
          <p:cNvSpPr/>
          <p:nvPr/>
        </p:nvSpPr>
        <p:spPr>
          <a:xfrm>
            <a:off x="777240" y="5166360"/>
            <a:ext cx="6309360" cy="365760"/>
          </a:xfrm>
          <a:prstGeom prst="rect">
            <a:avLst/>
          </a:prstGeom>
          <a:noFill/>
          <a:ln/>
        </p:spPr>
        <p:txBody>
          <a:bodyPr wrap="square" rtlCol="0" anchor="ctr"/>
          <a:lstStyle/>
          <a:p>
            <a:pPr marL="0" indent="0">
              <a:buNone/>
            </a:pPr>
            <a:r>
              <a:rPr lang="en-US" sz="1250" dirty="0">
                <a:solidFill>
                  <a:srgbClr val="F2F5FA"/>
                </a:solidFill>
                <a:latin typeface="Calibri" pitchFamily="34" charset="0"/>
                <a:ea typeface="Calibri" pitchFamily="34" charset="-122"/>
                <a:cs typeface="Calibri" pitchFamily="34" charset="-120"/>
              </a:rPr>
              <a:t>We tried a critical-asset multiplier (~1.4×) first — it distorted other ranks</a:t>
            </a:r>
            <a:endParaRPr lang="en-US" sz="1250" dirty="0"/>
          </a:p>
        </p:txBody>
      </p:sp>
      <p:sp>
        <p:nvSpPr>
          <p:cNvPr id="27" name="Text 25"/>
          <p:cNvSpPr/>
          <p:nvPr/>
        </p:nvSpPr>
        <p:spPr>
          <a:xfrm>
            <a:off x="777240" y="5605272"/>
            <a:ext cx="6309360" cy="411480"/>
          </a:xfrm>
          <a:prstGeom prst="rect">
            <a:avLst/>
          </a:prstGeom>
          <a:noFill/>
          <a:ln/>
        </p:spPr>
        <p:txBody>
          <a:bodyPr wrap="square" rtlCol="0" anchor="ctr"/>
          <a:lstStyle/>
          <a:p>
            <a:pPr marL="0" indent="0">
              <a:buNone/>
            </a:pPr>
            <a:r>
              <a:rPr lang="en-US" sz="1800" b="1" dirty="0">
                <a:solidFill>
                  <a:srgbClr val="00E5A0"/>
                </a:solidFill>
                <a:latin typeface="Cambria" pitchFamily="34" charset="0"/>
                <a:ea typeface="Cambria" pitchFamily="34" charset="-122"/>
                <a:cs typeface="Cambria" pitchFamily="34" charset="-120"/>
              </a:rPr>
              <a:t>A flat +30 bonus instead matched all 10 ranks — no further tuning needed</a:t>
            </a:r>
            <a:endParaRPr lang="en-US" sz="1800" dirty="0"/>
          </a:p>
        </p:txBody>
      </p:sp>
      <p:sp>
        <p:nvSpPr>
          <p:cNvPr id="28" name="Shape 26"/>
          <p:cNvSpPr/>
          <p:nvPr/>
        </p:nvSpPr>
        <p:spPr>
          <a:xfrm>
            <a:off x="7498080" y="4709160"/>
            <a:ext cx="4160520" cy="1417320"/>
          </a:xfrm>
          <a:prstGeom prst="roundRect">
            <a:avLst>
              <a:gd name="adj" fmla="val 5161"/>
            </a:avLst>
          </a:prstGeom>
          <a:solidFill>
            <a:srgbClr val="2A1414"/>
          </a:solidFill>
          <a:ln w="15875">
            <a:solidFill>
              <a:srgbClr val="FF5C5C"/>
            </a:solidFill>
            <a:prstDash val="solid"/>
          </a:ln>
        </p:spPr>
      </p:sp>
      <p:sp>
        <p:nvSpPr>
          <p:cNvPr id="29" name="Text 27"/>
          <p:cNvSpPr/>
          <p:nvPr/>
        </p:nvSpPr>
        <p:spPr>
          <a:xfrm>
            <a:off x="7726680" y="4818888"/>
            <a:ext cx="3703320" cy="256032"/>
          </a:xfrm>
          <a:prstGeom prst="rect">
            <a:avLst/>
          </a:prstGeom>
          <a:noFill/>
          <a:ln/>
        </p:spPr>
        <p:txBody>
          <a:bodyPr wrap="square" rtlCol="0" anchor="ctr"/>
          <a:lstStyle/>
          <a:p>
            <a:pPr marL="0" indent="0">
              <a:buNone/>
            </a:pPr>
            <a:r>
              <a:rPr lang="en-US" sz="1050" b="1" kern="0" spc="50" dirty="0">
                <a:solidFill>
                  <a:srgbClr val="FF5C5C"/>
                </a:solidFill>
                <a:latin typeface="Calibri" pitchFamily="34" charset="0"/>
                <a:ea typeface="Calibri" pitchFamily="34" charset="-122"/>
                <a:cs typeface="Calibri" pitchFamily="34" charset="-120"/>
              </a:rPr>
              <a:t>RUN IT YOURSELF</a:t>
            </a:r>
            <a:endParaRPr lang="en-US" sz="1050" dirty="0"/>
          </a:p>
        </p:txBody>
      </p:sp>
      <p:sp>
        <p:nvSpPr>
          <p:cNvPr id="30" name="Text 28"/>
          <p:cNvSpPr/>
          <p:nvPr/>
        </p:nvSpPr>
        <p:spPr>
          <a:xfrm>
            <a:off x="7726680" y="5120640"/>
            <a:ext cx="3703320" cy="914400"/>
          </a:xfrm>
          <a:prstGeom prst="rect">
            <a:avLst/>
          </a:prstGeom>
          <a:noFill/>
          <a:ln/>
        </p:spPr>
        <p:txBody>
          <a:bodyPr wrap="square" rtlCol="0" anchor="ctr"/>
          <a:lstStyle/>
          <a:p>
            <a:pPr marL="0" indent="0">
              <a:lnSpc>
                <a:spcPct val="120000"/>
              </a:lnSpc>
              <a:buNone/>
            </a:pPr>
            <a:r>
              <a:rPr lang="en-US" sz="1100" dirty="0">
                <a:solidFill>
                  <a:srgbClr val="F2F5FA"/>
                </a:solidFill>
                <a:latin typeface="Calibri" pitchFamily="34" charset="0"/>
                <a:ea typeface="Calibri" pitchFamily="34" charset="-122"/>
                <a:cs typeface="Calibri" pitchFamily="34" charset="-120"/>
              </a:rPr>
              <a:t>python main.py --validate reruns this exact check and prints True twice — once per organisation with known gold-set data.</a:t>
            </a:r>
            <a:endParaRPr lang="en-US" sz="1100" dirty="0"/>
          </a:p>
        </p:txBody>
      </p:sp>
      <p:sp>
        <p:nvSpPr>
          <p:cNvPr id="31" name="Text 29"/>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32" name="Text 30"/>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06 · EXPLAINABILITY</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Every Result Card Stays Traceable</a:t>
            </a:r>
            <a:endParaRPr lang="en-US" sz="3000" dirty="0"/>
          </a:p>
        </p:txBody>
      </p:sp>
      <p:sp>
        <p:nvSpPr>
          <p:cNvPr id="5" name="Text 3"/>
          <p:cNvSpPr/>
          <p:nvPr/>
        </p:nvSpPr>
        <p:spPr>
          <a:xfrm>
            <a:off x="548640" y="1627632"/>
            <a:ext cx="11064240" cy="457200"/>
          </a:xfrm>
          <a:prstGeom prst="rect">
            <a:avLst/>
          </a:prstGeom>
          <a:noFill/>
          <a:ln/>
        </p:spPr>
        <p:txBody>
          <a:bodyPr wrap="square" rtlCol="0" anchor="ctr"/>
          <a:lstStyle/>
          <a:p>
            <a:pPr marL="0" indent="0">
              <a:buNone/>
            </a:pPr>
            <a:r>
              <a:rPr lang="en-US" sz="1350" dirty="0">
                <a:solidFill>
                  <a:srgbClr val="9AA8C0"/>
                </a:solidFill>
                <a:latin typeface="Calibri" pitchFamily="34" charset="0"/>
                <a:ea typeface="Calibri" pitchFamily="34" charset="-122"/>
                <a:cs typeface="Calibri" pitchFamily="34" charset="-120"/>
              </a:rPr>
              <a:t>Source facts → team logic → result card. Every claim traces back to the underlying record.</a:t>
            </a:r>
            <a:endParaRPr lang="en-US" sz="1350" dirty="0"/>
          </a:p>
        </p:txBody>
      </p:sp>
      <p:sp>
        <p:nvSpPr>
          <p:cNvPr id="6" name="Shape 4"/>
          <p:cNvSpPr/>
          <p:nvPr/>
        </p:nvSpPr>
        <p:spPr>
          <a:xfrm>
            <a:off x="6903720" y="2194560"/>
            <a:ext cx="4754880" cy="3977640"/>
          </a:xfrm>
          <a:prstGeom prst="roundRect">
            <a:avLst>
              <a:gd name="adj" fmla="val 2299"/>
            </a:avLst>
          </a:prstGeom>
          <a:solidFill>
            <a:srgbClr val="111A2E"/>
          </a:solidFill>
          <a:ln w="15875">
            <a:solidFill>
              <a:srgbClr val="00E5A0"/>
            </a:solidFill>
            <a:prstDash val="solid"/>
          </a:ln>
        </p:spPr>
      </p:sp>
      <p:sp>
        <p:nvSpPr>
          <p:cNvPr id="7" name="Shape 5"/>
          <p:cNvSpPr/>
          <p:nvPr/>
        </p:nvSpPr>
        <p:spPr>
          <a:xfrm>
            <a:off x="7178040" y="2423160"/>
            <a:ext cx="1280160" cy="384048"/>
          </a:xfrm>
          <a:prstGeom prst="roundRect">
            <a:avLst>
              <a:gd name="adj" fmla="val 50000"/>
            </a:avLst>
          </a:prstGeom>
          <a:solidFill>
            <a:srgbClr val="2A1414"/>
          </a:solidFill>
          <a:ln w="12700">
            <a:solidFill>
              <a:srgbClr val="FF5C5C"/>
            </a:solidFill>
            <a:prstDash val="solid"/>
          </a:ln>
        </p:spPr>
      </p:sp>
      <p:sp>
        <p:nvSpPr>
          <p:cNvPr id="8" name="Text 6"/>
          <p:cNvSpPr/>
          <p:nvPr/>
        </p:nvSpPr>
        <p:spPr>
          <a:xfrm>
            <a:off x="7178040" y="2423160"/>
            <a:ext cx="1280160" cy="384048"/>
          </a:xfrm>
          <a:prstGeom prst="rect">
            <a:avLst/>
          </a:prstGeom>
          <a:noFill/>
          <a:ln/>
        </p:spPr>
        <p:txBody>
          <a:bodyPr wrap="square" rtlCol="0" anchor="ctr"/>
          <a:lstStyle/>
          <a:p>
            <a:pPr marL="0" indent="0" algn="ctr">
              <a:buNone/>
            </a:pPr>
            <a:r>
              <a:rPr lang="en-US" sz="1100" b="1" dirty="0">
                <a:solidFill>
                  <a:srgbClr val="FF5C5C"/>
                </a:solidFill>
                <a:latin typeface="Calibri" pitchFamily="34" charset="0"/>
                <a:ea typeface="Calibri" pitchFamily="34" charset="-122"/>
                <a:cs typeface="Calibri" pitchFamily="34" charset="-120"/>
              </a:rPr>
              <a:t>URGENT</a:t>
            </a:r>
            <a:endParaRPr lang="en-US" sz="1100" dirty="0"/>
          </a:p>
        </p:txBody>
      </p:sp>
      <p:sp>
        <p:nvSpPr>
          <p:cNvPr id="9" name="Text 7"/>
          <p:cNvSpPr/>
          <p:nvPr/>
        </p:nvSpPr>
        <p:spPr>
          <a:xfrm>
            <a:off x="8595360" y="2423160"/>
            <a:ext cx="2743200" cy="384048"/>
          </a:xfrm>
          <a:prstGeom prst="rect">
            <a:avLst/>
          </a:prstGeom>
          <a:noFill/>
          <a:ln/>
        </p:spPr>
        <p:txBody>
          <a:bodyPr wrap="square" rtlCol="0" anchor="ctr"/>
          <a:lstStyle/>
          <a:p>
            <a:pPr marL="0" indent="0">
              <a:buNone/>
            </a:pPr>
            <a:r>
              <a:rPr lang="en-US" sz="1050" dirty="0">
                <a:solidFill>
                  <a:srgbClr val="9AA8C0"/>
                </a:solidFill>
                <a:latin typeface="Calibri" pitchFamily="34" charset="0"/>
                <a:ea typeface="Calibri" pitchFamily="34" charset="-122"/>
                <a:cs typeface="Calibri" pitchFamily="34" charset="-120"/>
              </a:rPr>
              <a:t>Confidence: High</a:t>
            </a:r>
            <a:endParaRPr lang="en-US" sz="1050" dirty="0"/>
          </a:p>
        </p:txBody>
      </p:sp>
      <p:sp>
        <p:nvSpPr>
          <p:cNvPr id="10" name="Text 8"/>
          <p:cNvSpPr/>
          <p:nvPr/>
        </p:nvSpPr>
        <p:spPr>
          <a:xfrm>
            <a:off x="7178040" y="2926080"/>
            <a:ext cx="4206240" cy="548640"/>
          </a:xfrm>
          <a:prstGeom prst="rect">
            <a:avLst/>
          </a:prstGeom>
          <a:noFill/>
          <a:ln/>
        </p:spPr>
        <p:txBody>
          <a:bodyPr wrap="square" rtlCol="0" anchor="ctr"/>
          <a:lstStyle/>
          <a:p>
            <a:pPr marL="0" indent="0">
              <a:lnSpc>
                <a:spcPct val="110000"/>
              </a:lnSpc>
              <a:buNone/>
            </a:pPr>
            <a:r>
              <a:rPr lang="en-US" sz="1500" b="1" dirty="0">
                <a:solidFill>
                  <a:srgbClr val="F2F5FA"/>
                </a:solidFill>
                <a:latin typeface="Cambria" pitchFamily="34" charset="0"/>
                <a:ea typeface="Cambria" pitchFamily="34" charset="-122"/>
                <a:cs typeface="Cambria" pitchFamily="34" charset="-120"/>
              </a:rPr>
              <a:t>Attackers could exploit Enterprise Router OS — one of Municipal Utility Provider's critical assets</a:t>
            </a:r>
            <a:endParaRPr lang="en-US" sz="1500" dirty="0"/>
          </a:p>
        </p:txBody>
      </p:sp>
      <p:sp>
        <p:nvSpPr>
          <p:cNvPr id="11" name="Text 9"/>
          <p:cNvSpPr/>
          <p:nvPr/>
        </p:nvSpPr>
        <p:spPr>
          <a:xfrm>
            <a:off x="7178040" y="3611880"/>
            <a:ext cx="4206240" cy="219456"/>
          </a:xfrm>
          <a:prstGeom prst="rect">
            <a:avLst/>
          </a:prstGeom>
          <a:noFill/>
          <a:ln/>
        </p:spPr>
        <p:txBody>
          <a:bodyPr wrap="square" rtlCol="0" anchor="ctr"/>
          <a:lstStyle/>
          <a:p>
            <a:pPr marL="0" indent="0">
              <a:buNone/>
            </a:pPr>
            <a:r>
              <a:rPr lang="en-US" sz="900" b="1" kern="0" spc="50" dirty="0">
                <a:solidFill>
                  <a:srgbClr val="3AA0FF"/>
                </a:solidFill>
                <a:latin typeface="Calibri" pitchFamily="34" charset="0"/>
                <a:ea typeface="Calibri" pitchFamily="34" charset="-122"/>
                <a:cs typeface="Calibri" pitchFamily="34" charset="-120"/>
              </a:rPr>
              <a:t>MATCHED CONTEXT</a:t>
            </a:r>
            <a:endParaRPr lang="en-US" sz="900" dirty="0"/>
          </a:p>
        </p:txBody>
      </p:sp>
      <p:sp>
        <p:nvSpPr>
          <p:cNvPr id="12" name="Text 10"/>
          <p:cNvSpPr/>
          <p:nvPr/>
        </p:nvSpPr>
        <p:spPr>
          <a:xfrm>
            <a:off x="7178040" y="3831336"/>
            <a:ext cx="4206240" cy="365760"/>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Enterprise Router OS · Municipal Utility Provider · critical asset</a:t>
            </a:r>
            <a:endParaRPr lang="en-US" sz="1050" dirty="0"/>
          </a:p>
        </p:txBody>
      </p:sp>
      <p:sp>
        <p:nvSpPr>
          <p:cNvPr id="13" name="Text 11"/>
          <p:cNvSpPr/>
          <p:nvPr/>
        </p:nvSpPr>
        <p:spPr>
          <a:xfrm>
            <a:off x="7178040" y="4215384"/>
            <a:ext cx="4206240" cy="219456"/>
          </a:xfrm>
          <a:prstGeom prst="rect">
            <a:avLst/>
          </a:prstGeom>
          <a:noFill/>
          <a:ln/>
        </p:spPr>
        <p:txBody>
          <a:bodyPr wrap="square" rtlCol="0" anchor="ctr"/>
          <a:lstStyle/>
          <a:p>
            <a:pPr marL="0" indent="0">
              <a:buNone/>
            </a:pPr>
            <a:r>
              <a:rPr lang="en-US" sz="900" b="1" kern="0" spc="50" dirty="0">
                <a:solidFill>
                  <a:srgbClr val="3AA0FF"/>
                </a:solidFill>
                <a:latin typeface="Calibri" pitchFamily="34" charset="0"/>
                <a:ea typeface="Calibri" pitchFamily="34" charset="-122"/>
                <a:cs typeface="Calibri" pitchFamily="34" charset="-120"/>
              </a:rPr>
              <a:t>WHY IT MATTERS</a:t>
            </a:r>
            <a:endParaRPr lang="en-US" sz="900" dirty="0"/>
          </a:p>
        </p:txBody>
      </p:sp>
      <p:sp>
        <p:nvSpPr>
          <p:cNvPr id="14" name="Text 12"/>
          <p:cNvSpPr/>
          <p:nvPr/>
        </p:nvSpPr>
        <p:spPr>
          <a:xfrm>
            <a:off x="7178040" y="4434840"/>
            <a:ext cx="4206240" cy="365760"/>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CVSS 8.9 (+45) · In CISA KEV (+40) · EPSS 0.92 (+9) · Critical asset (+30)</a:t>
            </a:r>
            <a:endParaRPr lang="en-US" sz="1050" dirty="0"/>
          </a:p>
        </p:txBody>
      </p:sp>
      <p:sp>
        <p:nvSpPr>
          <p:cNvPr id="15" name="Text 13"/>
          <p:cNvSpPr/>
          <p:nvPr/>
        </p:nvSpPr>
        <p:spPr>
          <a:xfrm>
            <a:off x="7178040" y="4818888"/>
            <a:ext cx="4206240" cy="219456"/>
          </a:xfrm>
          <a:prstGeom prst="rect">
            <a:avLst/>
          </a:prstGeom>
          <a:noFill/>
          <a:ln/>
        </p:spPr>
        <p:txBody>
          <a:bodyPr wrap="square" rtlCol="0" anchor="ctr"/>
          <a:lstStyle/>
          <a:p>
            <a:pPr marL="0" indent="0">
              <a:buNone/>
            </a:pPr>
            <a:r>
              <a:rPr lang="en-US" sz="900" b="1" kern="0" spc="50" dirty="0">
                <a:solidFill>
                  <a:srgbClr val="3AA0FF"/>
                </a:solidFill>
                <a:latin typeface="Calibri" pitchFamily="34" charset="0"/>
                <a:ea typeface="Calibri" pitchFamily="34" charset="-122"/>
                <a:cs typeface="Calibri" pitchFamily="34" charset="-120"/>
              </a:rPr>
              <a:t>NEXT STEP</a:t>
            </a:r>
            <a:endParaRPr lang="en-US" sz="900" dirty="0"/>
          </a:p>
        </p:txBody>
      </p:sp>
      <p:sp>
        <p:nvSpPr>
          <p:cNvPr id="16" name="Text 14"/>
          <p:cNvSpPr/>
          <p:nvPr/>
        </p:nvSpPr>
        <p:spPr>
          <a:xfrm>
            <a:off x="7178040" y="5038344"/>
            <a:ext cx="4206240" cy="365760"/>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Patch or apply the vendor's fix immediately; restrict access if none exists</a:t>
            </a:r>
            <a:endParaRPr lang="en-US" sz="1050" dirty="0"/>
          </a:p>
        </p:txBody>
      </p:sp>
      <p:sp>
        <p:nvSpPr>
          <p:cNvPr id="17" name="Text 15"/>
          <p:cNvSpPr/>
          <p:nvPr/>
        </p:nvSpPr>
        <p:spPr>
          <a:xfrm>
            <a:off x="7178040" y="5422392"/>
            <a:ext cx="4206240" cy="219456"/>
          </a:xfrm>
          <a:prstGeom prst="rect">
            <a:avLst/>
          </a:prstGeom>
          <a:noFill/>
          <a:ln/>
        </p:spPr>
        <p:txBody>
          <a:bodyPr wrap="square" rtlCol="0" anchor="ctr"/>
          <a:lstStyle/>
          <a:p>
            <a:pPr marL="0" indent="0">
              <a:buNone/>
            </a:pPr>
            <a:r>
              <a:rPr lang="en-US" sz="900" b="1" kern="0" spc="50" dirty="0">
                <a:solidFill>
                  <a:srgbClr val="3AA0FF"/>
                </a:solidFill>
                <a:latin typeface="Calibri" pitchFamily="34" charset="0"/>
                <a:ea typeface="Calibri" pitchFamily="34" charset="-122"/>
                <a:cs typeface="Calibri" pitchFamily="34" charset="-120"/>
              </a:rPr>
              <a:t>TRACEABILITY</a:t>
            </a:r>
            <a:endParaRPr lang="en-US" sz="900" dirty="0"/>
          </a:p>
        </p:txBody>
      </p:sp>
      <p:sp>
        <p:nvSpPr>
          <p:cNvPr id="18" name="Text 16"/>
          <p:cNvSpPr/>
          <p:nvPr/>
        </p:nvSpPr>
        <p:spPr>
          <a:xfrm>
            <a:off x="7178040" y="5641848"/>
            <a:ext cx="4206240" cy="365760"/>
          </a:xfrm>
          <a:prstGeom prst="rect">
            <a:avLst/>
          </a:prstGeom>
          <a:noFill/>
          <a:ln/>
        </p:spPr>
        <p:txBody>
          <a:bodyPr wrap="square" rtlCol="0" anchor="ctr"/>
          <a:lstStyle/>
          <a:p>
            <a:pPr marL="0" indent="0">
              <a:buNone/>
            </a:pPr>
            <a:r>
              <a:rPr lang="en-US" sz="1050" dirty="0">
                <a:solidFill>
                  <a:srgbClr val="F2F5FA"/>
                </a:solidFill>
                <a:latin typeface="Calibri" pitchFamily="34" charset="0"/>
                <a:ea typeface="Calibri" pitchFamily="34" charset="-122"/>
                <a:cs typeface="Calibri" pitchFamily="34" charset="-120"/>
              </a:rPr>
              <a:t>CVE-2025-3368 · NVD (CVSS) · CISA KEV · FIRST EPSS</a:t>
            </a:r>
            <a:endParaRPr lang="en-US" sz="1050" dirty="0"/>
          </a:p>
        </p:txBody>
      </p:sp>
      <p:sp>
        <p:nvSpPr>
          <p:cNvPr id="19" name="Text 17"/>
          <p:cNvSpPr/>
          <p:nvPr/>
        </p:nvSpPr>
        <p:spPr>
          <a:xfrm>
            <a:off x="548640" y="2194560"/>
            <a:ext cx="6035040" cy="274320"/>
          </a:xfrm>
          <a:prstGeom prst="rect">
            <a:avLst/>
          </a:prstGeom>
          <a:noFill/>
          <a:ln/>
        </p:spPr>
        <p:txBody>
          <a:bodyPr wrap="square" rtlCol="0" anchor="ctr"/>
          <a:lstStyle/>
          <a:p>
            <a:pPr marL="0" indent="0">
              <a:buNone/>
            </a:pPr>
            <a:r>
              <a:rPr lang="en-US" sz="1100" b="1" kern="0" spc="100" dirty="0">
                <a:solidFill>
                  <a:srgbClr val="00E5A0"/>
                </a:solidFill>
                <a:latin typeface="Calibri" pitchFamily="34" charset="0"/>
                <a:ea typeface="Calibri" pitchFamily="34" charset="-122"/>
                <a:cs typeface="Calibri" pitchFamily="34" charset="-120"/>
              </a:rPr>
              <a:t>EVERY TOP-FIVE RESULT SHOWS</a:t>
            </a:r>
            <a:endParaRPr lang="en-US" sz="1100" dirty="0"/>
          </a:p>
        </p:txBody>
      </p:sp>
      <p:sp>
        <p:nvSpPr>
          <p:cNvPr id="20" name="Shape 18"/>
          <p:cNvSpPr/>
          <p:nvPr/>
        </p:nvSpPr>
        <p:spPr>
          <a:xfrm>
            <a:off x="548640" y="2542032"/>
            <a:ext cx="256032" cy="256032"/>
          </a:xfrm>
          <a:prstGeom prst="ellipse">
            <a:avLst/>
          </a:prstGeom>
          <a:solidFill>
            <a:srgbClr val="0E2A22"/>
          </a:solidFill>
          <a:ln w="15875">
            <a:solidFill>
              <a:srgbClr val="00E5A0"/>
            </a:solidFill>
            <a:prstDash val="solid"/>
          </a:ln>
        </p:spPr>
      </p:sp>
      <p:sp>
        <p:nvSpPr>
          <p:cNvPr id="21" name="Text 19"/>
          <p:cNvSpPr/>
          <p:nvPr/>
        </p:nvSpPr>
        <p:spPr>
          <a:xfrm>
            <a:off x="548640" y="2542032"/>
            <a:ext cx="256032" cy="256032"/>
          </a:xfrm>
          <a:prstGeom prst="rect">
            <a:avLst/>
          </a:prstGeom>
          <a:noFill/>
          <a:ln/>
        </p:spPr>
        <p:txBody>
          <a:bodyPr wrap="square" rtlCol="0" anchor="ctr"/>
          <a:lstStyle/>
          <a:p>
            <a:pPr marL="0" indent="0" algn="ctr">
              <a:buNone/>
            </a:pPr>
            <a:r>
              <a:rPr lang="en-US" sz="728" b="1" dirty="0">
                <a:solidFill>
                  <a:srgbClr val="00E5A0"/>
                </a:solidFill>
                <a:latin typeface="Calibri" pitchFamily="34" charset="0"/>
                <a:ea typeface="Calibri" pitchFamily="34" charset="-122"/>
                <a:cs typeface="Calibri" pitchFamily="34" charset="-120"/>
              </a:rPr>
              <a:t>✓</a:t>
            </a:r>
            <a:endParaRPr lang="en-US" sz="728" dirty="0"/>
          </a:p>
        </p:txBody>
      </p:sp>
      <p:sp>
        <p:nvSpPr>
          <p:cNvPr id="22" name="Text 20"/>
          <p:cNvSpPr/>
          <p:nvPr/>
        </p:nvSpPr>
        <p:spPr>
          <a:xfrm>
            <a:off x="932688" y="2514600"/>
            <a:ext cx="5394960" cy="310896"/>
          </a:xfrm>
          <a:prstGeom prst="rect">
            <a:avLst/>
          </a:prstGeom>
          <a:noFill/>
          <a:ln/>
        </p:spPr>
        <p:txBody>
          <a:bodyPr wrap="square" rtlCol="0" anchor="ctr"/>
          <a:lstStyle/>
          <a:p>
            <a:pPr marL="0" indent="0">
              <a:buNone/>
            </a:pPr>
            <a:r>
              <a:rPr lang="en-US" sz="1200" dirty="0">
                <a:solidFill>
                  <a:srgbClr val="F2F5FA"/>
                </a:solidFill>
                <a:latin typeface="Calibri" pitchFamily="34" charset="0"/>
                <a:ea typeface="Calibri" pitchFamily="34" charset="-122"/>
                <a:cs typeface="Calibri" pitchFamily="34" charset="-120"/>
              </a:rPr>
              <a:t>Priority + contributing factors</a:t>
            </a:r>
            <a:endParaRPr lang="en-US" sz="1200" dirty="0"/>
          </a:p>
        </p:txBody>
      </p:sp>
      <p:sp>
        <p:nvSpPr>
          <p:cNvPr id="23" name="Shape 21"/>
          <p:cNvSpPr/>
          <p:nvPr/>
        </p:nvSpPr>
        <p:spPr>
          <a:xfrm>
            <a:off x="548640" y="2944368"/>
            <a:ext cx="256032" cy="256032"/>
          </a:xfrm>
          <a:prstGeom prst="ellipse">
            <a:avLst/>
          </a:prstGeom>
          <a:solidFill>
            <a:srgbClr val="0E2A22"/>
          </a:solidFill>
          <a:ln w="15875">
            <a:solidFill>
              <a:srgbClr val="00E5A0"/>
            </a:solidFill>
            <a:prstDash val="solid"/>
          </a:ln>
        </p:spPr>
      </p:sp>
      <p:sp>
        <p:nvSpPr>
          <p:cNvPr id="24" name="Text 22"/>
          <p:cNvSpPr/>
          <p:nvPr/>
        </p:nvSpPr>
        <p:spPr>
          <a:xfrm>
            <a:off x="548640" y="2944368"/>
            <a:ext cx="256032" cy="256032"/>
          </a:xfrm>
          <a:prstGeom prst="rect">
            <a:avLst/>
          </a:prstGeom>
          <a:noFill/>
          <a:ln/>
        </p:spPr>
        <p:txBody>
          <a:bodyPr wrap="square" rtlCol="0" anchor="ctr"/>
          <a:lstStyle/>
          <a:p>
            <a:pPr marL="0" indent="0" algn="ctr">
              <a:buNone/>
            </a:pPr>
            <a:r>
              <a:rPr lang="en-US" sz="728" b="1" dirty="0">
                <a:solidFill>
                  <a:srgbClr val="00E5A0"/>
                </a:solidFill>
                <a:latin typeface="Calibri" pitchFamily="34" charset="0"/>
                <a:ea typeface="Calibri" pitchFamily="34" charset="-122"/>
                <a:cs typeface="Calibri" pitchFamily="34" charset="-120"/>
              </a:rPr>
              <a:t>✓</a:t>
            </a:r>
            <a:endParaRPr lang="en-US" sz="728" dirty="0"/>
          </a:p>
        </p:txBody>
      </p:sp>
      <p:sp>
        <p:nvSpPr>
          <p:cNvPr id="25" name="Text 23"/>
          <p:cNvSpPr/>
          <p:nvPr/>
        </p:nvSpPr>
        <p:spPr>
          <a:xfrm>
            <a:off x="932688" y="2916936"/>
            <a:ext cx="5394960" cy="310896"/>
          </a:xfrm>
          <a:prstGeom prst="rect">
            <a:avLst/>
          </a:prstGeom>
          <a:noFill/>
          <a:ln/>
        </p:spPr>
        <p:txBody>
          <a:bodyPr wrap="square" rtlCol="0" anchor="ctr"/>
          <a:lstStyle/>
          <a:p>
            <a:pPr marL="0" indent="0">
              <a:buNone/>
            </a:pPr>
            <a:r>
              <a:rPr lang="en-US" sz="1200" dirty="0">
                <a:solidFill>
                  <a:srgbClr val="F2F5FA"/>
                </a:solidFill>
                <a:latin typeface="Calibri" pitchFamily="34" charset="0"/>
                <a:ea typeface="Calibri" pitchFamily="34" charset="-122"/>
                <a:cs typeface="Calibri" pitchFamily="34" charset="-120"/>
              </a:rPr>
              <a:t>Plain-language, consequence-first title</a:t>
            </a:r>
            <a:endParaRPr lang="en-US" sz="1200" dirty="0"/>
          </a:p>
        </p:txBody>
      </p:sp>
      <p:sp>
        <p:nvSpPr>
          <p:cNvPr id="26" name="Shape 24"/>
          <p:cNvSpPr/>
          <p:nvPr/>
        </p:nvSpPr>
        <p:spPr>
          <a:xfrm>
            <a:off x="548640" y="3346704"/>
            <a:ext cx="256032" cy="256032"/>
          </a:xfrm>
          <a:prstGeom prst="ellipse">
            <a:avLst/>
          </a:prstGeom>
          <a:solidFill>
            <a:srgbClr val="0E2A22"/>
          </a:solidFill>
          <a:ln w="15875">
            <a:solidFill>
              <a:srgbClr val="00E5A0"/>
            </a:solidFill>
            <a:prstDash val="solid"/>
          </a:ln>
        </p:spPr>
      </p:sp>
      <p:sp>
        <p:nvSpPr>
          <p:cNvPr id="27" name="Text 25"/>
          <p:cNvSpPr/>
          <p:nvPr/>
        </p:nvSpPr>
        <p:spPr>
          <a:xfrm>
            <a:off x="548640" y="3346704"/>
            <a:ext cx="256032" cy="256032"/>
          </a:xfrm>
          <a:prstGeom prst="rect">
            <a:avLst/>
          </a:prstGeom>
          <a:noFill/>
          <a:ln/>
        </p:spPr>
        <p:txBody>
          <a:bodyPr wrap="square" rtlCol="0" anchor="ctr"/>
          <a:lstStyle/>
          <a:p>
            <a:pPr marL="0" indent="0" algn="ctr">
              <a:buNone/>
            </a:pPr>
            <a:r>
              <a:rPr lang="en-US" sz="728" b="1" dirty="0">
                <a:solidFill>
                  <a:srgbClr val="00E5A0"/>
                </a:solidFill>
                <a:latin typeface="Calibri" pitchFamily="34" charset="0"/>
                <a:ea typeface="Calibri" pitchFamily="34" charset="-122"/>
                <a:cs typeface="Calibri" pitchFamily="34" charset="-120"/>
              </a:rPr>
              <a:t>✓</a:t>
            </a:r>
            <a:endParaRPr lang="en-US" sz="728" dirty="0"/>
          </a:p>
        </p:txBody>
      </p:sp>
      <p:sp>
        <p:nvSpPr>
          <p:cNvPr id="28" name="Text 26"/>
          <p:cNvSpPr/>
          <p:nvPr/>
        </p:nvSpPr>
        <p:spPr>
          <a:xfrm>
            <a:off x="932688" y="3319272"/>
            <a:ext cx="5394960" cy="310896"/>
          </a:xfrm>
          <a:prstGeom prst="rect">
            <a:avLst/>
          </a:prstGeom>
          <a:noFill/>
          <a:ln/>
        </p:spPr>
        <p:txBody>
          <a:bodyPr wrap="square" rtlCol="0" anchor="ctr"/>
          <a:lstStyle/>
          <a:p>
            <a:pPr marL="0" indent="0">
              <a:buNone/>
            </a:pPr>
            <a:r>
              <a:rPr lang="en-US" sz="1200" dirty="0">
                <a:solidFill>
                  <a:srgbClr val="F2F5FA"/>
                </a:solidFill>
                <a:latin typeface="Calibri" pitchFamily="34" charset="0"/>
                <a:ea typeface="Calibri" pitchFamily="34" charset="-122"/>
                <a:cs typeface="Calibri" pitchFamily="34" charset="-120"/>
              </a:rPr>
              <a:t>Matched context (product, service, exposure)</a:t>
            </a:r>
            <a:endParaRPr lang="en-US" sz="1200" dirty="0"/>
          </a:p>
        </p:txBody>
      </p:sp>
      <p:sp>
        <p:nvSpPr>
          <p:cNvPr id="29" name="Shape 27"/>
          <p:cNvSpPr/>
          <p:nvPr/>
        </p:nvSpPr>
        <p:spPr>
          <a:xfrm>
            <a:off x="548640" y="3749040"/>
            <a:ext cx="256032" cy="256032"/>
          </a:xfrm>
          <a:prstGeom prst="ellipse">
            <a:avLst/>
          </a:prstGeom>
          <a:solidFill>
            <a:srgbClr val="0E2A22"/>
          </a:solidFill>
          <a:ln w="15875">
            <a:solidFill>
              <a:srgbClr val="00E5A0"/>
            </a:solidFill>
            <a:prstDash val="solid"/>
          </a:ln>
        </p:spPr>
      </p:sp>
      <p:sp>
        <p:nvSpPr>
          <p:cNvPr id="30" name="Text 28"/>
          <p:cNvSpPr/>
          <p:nvPr/>
        </p:nvSpPr>
        <p:spPr>
          <a:xfrm>
            <a:off x="548640" y="3749040"/>
            <a:ext cx="256032" cy="256032"/>
          </a:xfrm>
          <a:prstGeom prst="rect">
            <a:avLst/>
          </a:prstGeom>
          <a:noFill/>
          <a:ln/>
        </p:spPr>
        <p:txBody>
          <a:bodyPr wrap="square" rtlCol="0" anchor="ctr"/>
          <a:lstStyle/>
          <a:p>
            <a:pPr marL="0" indent="0" algn="ctr">
              <a:buNone/>
            </a:pPr>
            <a:r>
              <a:rPr lang="en-US" sz="728" b="1" dirty="0">
                <a:solidFill>
                  <a:srgbClr val="00E5A0"/>
                </a:solidFill>
                <a:latin typeface="Calibri" pitchFamily="34" charset="0"/>
                <a:ea typeface="Calibri" pitchFamily="34" charset="-122"/>
                <a:cs typeface="Calibri" pitchFamily="34" charset="-120"/>
              </a:rPr>
              <a:t>✓</a:t>
            </a:r>
            <a:endParaRPr lang="en-US" sz="728" dirty="0"/>
          </a:p>
        </p:txBody>
      </p:sp>
      <p:sp>
        <p:nvSpPr>
          <p:cNvPr id="31" name="Text 29"/>
          <p:cNvSpPr/>
          <p:nvPr/>
        </p:nvSpPr>
        <p:spPr>
          <a:xfrm>
            <a:off x="932688" y="3721608"/>
            <a:ext cx="5394960" cy="310896"/>
          </a:xfrm>
          <a:prstGeom prst="rect">
            <a:avLst/>
          </a:prstGeom>
          <a:noFill/>
          <a:ln/>
        </p:spPr>
        <p:txBody>
          <a:bodyPr wrap="square" rtlCol="0" anchor="ctr"/>
          <a:lstStyle/>
          <a:p>
            <a:pPr marL="0" indent="0">
              <a:buNone/>
            </a:pPr>
            <a:r>
              <a:rPr lang="en-US" sz="1200" dirty="0">
                <a:solidFill>
                  <a:srgbClr val="F2F5FA"/>
                </a:solidFill>
                <a:latin typeface="Calibri" pitchFamily="34" charset="0"/>
                <a:ea typeface="Calibri" pitchFamily="34" charset="-122"/>
                <a:cs typeface="Calibri" pitchFamily="34" charset="-120"/>
              </a:rPr>
              <a:t>Why it matters (KEV, EPSS, CVSS, match)</a:t>
            </a:r>
            <a:endParaRPr lang="en-US" sz="1200" dirty="0"/>
          </a:p>
        </p:txBody>
      </p:sp>
      <p:sp>
        <p:nvSpPr>
          <p:cNvPr id="32" name="Shape 30"/>
          <p:cNvSpPr/>
          <p:nvPr/>
        </p:nvSpPr>
        <p:spPr>
          <a:xfrm>
            <a:off x="548640" y="4151376"/>
            <a:ext cx="256032" cy="256032"/>
          </a:xfrm>
          <a:prstGeom prst="ellipse">
            <a:avLst/>
          </a:prstGeom>
          <a:solidFill>
            <a:srgbClr val="0E2A22"/>
          </a:solidFill>
          <a:ln w="15875">
            <a:solidFill>
              <a:srgbClr val="00E5A0"/>
            </a:solidFill>
            <a:prstDash val="solid"/>
          </a:ln>
        </p:spPr>
      </p:sp>
      <p:sp>
        <p:nvSpPr>
          <p:cNvPr id="33" name="Text 31"/>
          <p:cNvSpPr/>
          <p:nvPr/>
        </p:nvSpPr>
        <p:spPr>
          <a:xfrm>
            <a:off x="548640" y="4151376"/>
            <a:ext cx="256032" cy="256032"/>
          </a:xfrm>
          <a:prstGeom prst="rect">
            <a:avLst/>
          </a:prstGeom>
          <a:noFill/>
          <a:ln/>
        </p:spPr>
        <p:txBody>
          <a:bodyPr wrap="square" rtlCol="0" anchor="ctr"/>
          <a:lstStyle/>
          <a:p>
            <a:pPr marL="0" indent="0" algn="ctr">
              <a:buNone/>
            </a:pPr>
            <a:r>
              <a:rPr lang="en-US" sz="728" b="1" dirty="0">
                <a:solidFill>
                  <a:srgbClr val="00E5A0"/>
                </a:solidFill>
                <a:latin typeface="Calibri" pitchFamily="34" charset="0"/>
                <a:ea typeface="Calibri" pitchFamily="34" charset="-122"/>
                <a:cs typeface="Calibri" pitchFamily="34" charset="-120"/>
              </a:rPr>
              <a:t>✓</a:t>
            </a:r>
            <a:endParaRPr lang="en-US" sz="728" dirty="0"/>
          </a:p>
        </p:txBody>
      </p:sp>
      <p:sp>
        <p:nvSpPr>
          <p:cNvPr id="34" name="Text 32"/>
          <p:cNvSpPr/>
          <p:nvPr/>
        </p:nvSpPr>
        <p:spPr>
          <a:xfrm>
            <a:off x="932688" y="4123944"/>
            <a:ext cx="5394960" cy="310896"/>
          </a:xfrm>
          <a:prstGeom prst="rect">
            <a:avLst/>
          </a:prstGeom>
          <a:noFill/>
          <a:ln/>
        </p:spPr>
        <p:txBody>
          <a:bodyPr wrap="square" rtlCol="0" anchor="ctr"/>
          <a:lstStyle/>
          <a:p>
            <a:pPr marL="0" indent="0">
              <a:buNone/>
            </a:pPr>
            <a:r>
              <a:rPr lang="en-US" sz="1200" dirty="0">
                <a:solidFill>
                  <a:srgbClr val="F2F5FA"/>
                </a:solidFill>
                <a:latin typeface="Calibri" pitchFamily="34" charset="0"/>
                <a:ea typeface="Calibri" pitchFamily="34" charset="-122"/>
                <a:cs typeface="Calibri" pitchFamily="34" charset="-120"/>
              </a:rPr>
              <a:t>Potential impact (cautious, record-backed)</a:t>
            </a:r>
            <a:endParaRPr lang="en-US" sz="1200" dirty="0"/>
          </a:p>
        </p:txBody>
      </p:sp>
      <p:sp>
        <p:nvSpPr>
          <p:cNvPr id="35" name="Shape 33"/>
          <p:cNvSpPr/>
          <p:nvPr/>
        </p:nvSpPr>
        <p:spPr>
          <a:xfrm>
            <a:off x="548640" y="4553712"/>
            <a:ext cx="256032" cy="256032"/>
          </a:xfrm>
          <a:prstGeom prst="ellipse">
            <a:avLst/>
          </a:prstGeom>
          <a:solidFill>
            <a:srgbClr val="0E2A22"/>
          </a:solidFill>
          <a:ln w="15875">
            <a:solidFill>
              <a:srgbClr val="00E5A0"/>
            </a:solidFill>
            <a:prstDash val="solid"/>
          </a:ln>
        </p:spPr>
      </p:sp>
      <p:sp>
        <p:nvSpPr>
          <p:cNvPr id="36" name="Text 34"/>
          <p:cNvSpPr/>
          <p:nvPr/>
        </p:nvSpPr>
        <p:spPr>
          <a:xfrm>
            <a:off x="548640" y="4553712"/>
            <a:ext cx="256032" cy="256032"/>
          </a:xfrm>
          <a:prstGeom prst="rect">
            <a:avLst/>
          </a:prstGeom>
          <a:noFill/>
          <a:ln/>
        </p:spPr>
        <p:txBody>
          <a:bodyPr wrap="square" rtlCol="0" anchor="ctr"/>
          <a:lstStyle/>
          <a:p>
            <a:pPr marL="0" indent="0" algn="ctr">
              <a:buNone/>
            </a:pPr>
            <a:r>
              <a:rPr lang="en-US" sz="728" b="1" dirty="0">
                <a:solidFill>
                  <a:srgbClr val="00E5A0"/>
                </a:solidFill>
                <a:latin typeface="Calibri" pitchFamily="34" charset="0"/>
                <a:ea typeface="Calibri" pitchFamily="34" charset="-122"/>
                <a:cs typeface="Calibri" pitchFamily="34" charset="-120"/>
              </a:rPr>
              <a:t>✓</a:t>
            </a:r>
            <a:endParaRPr lang="en-US" sz="728" dirty="0"/>
          </a:p>
        </p:txBody>
      </p:sp>
      <p:sp>
        <p:nvSpPr>
          <p:cNvPr id="37" name="Text 35"/>
          <p:cNvSpPr/>
          <p:nvPr/>
        </p:nvSpPr>
        <p:spPr>
          <a:xfrm>
            <a:off x="932688" y="4526280"/>
            <a:ext cx="5394960" cy="310896"/>
          </a:xfrm>
          <a:prstGeom prst="rect">
            <a:avLst/>
          </a:prstGeom>
          <a:noFill/>
          <a:ln/>
        </p:spPr>
        <p:txBody>
          <a:bodyPr wrap="square" rtlCol="0" anchor="ctr"/>
          <a:lstStyle/>
          <a:p>
            <a:pPr marL="0" indent="0">
              <a:buNone/>
            </a:pPr>
            <a:r>
              <a:rPr lang="en-US" sz="1200" dirty="0">
                <a:solidFill>
                  <a:srgbClr val="F2F5FA"/>
                </a:solidFill>
                <a:latin typeface="Calibri" pitchFamily="34" charset="0"/>
                <a:ea typeface="Calibri" pitchFamily="34" charset="-122"/>
                <a:cs typeface="Calibri" pitchFamily="34" charset="-120"/>
              </a:rPr>
              <a:t>One safe next step</a:t>
            </a:r>
            <a:endParaRPr lang="en-US" sz="1200" dirty="0"/>
          </a:p>
        </p:txBody>
      </p:sp>
      <p:sp>
        <p:nvSpPr>
          <p:cNvPr id="38" name="Shape 36"/>
          <p:cNvSpPr/>
          <p:nvPr/>
        </p:nvSpPr>
        <p:spPr>
          <a:xfrm>
            <a:off x="548640" y="4956048"/>
            <a:ext cx="256032" cy="256032"/>
          </a:xfrm>
          <a:prstGeom prst="ellipse">
            <a:avLst/>
          </a:prstGeom>
          <a:solidFill>
            <a:srgbClr val="0E2A22"/>
          </a:solidFill>
          <a:ln w="15875">
            <a:solidFill>
              <a:srgbClr val="00E5A0"/>
            </a:solidFill>
            <a:prstDash val="solid"/>
          </a:ln>
        </p:spPr>
      </p:sp>
      <p:sp>
        <p:nvSpPr>
          <p:cNvPr id="39" name="Text 37"/>
          <p:cNvSpPr/>
          <p:nvPr/>
        </p:nvSpPr>
        <p:spPr>
          <a:xfrm>
            <a:off x="548640" y="4956048"/>
            <a:ext cx="256032" cy="256032"/>
          </a:xfrm>
          <a:prstGeom prst="rect">
            <a:avLst/>
          </a:prstGeom>
          <a:noFill/>
          <a:ln/>
        </p:spPr>
        <p:txBody>
          <a:bodyPr wrap="square" rtlCol="0" anchor="ctr"/>
          <a:lstStyle/>
          <a:p>
            <a:pPr marL="0" indent="0" algn="ctr">
              <a:buNone/>
            </a:pPr>
            <a:r>
              <a:rPr lang="en-US" sz="728" b="1" dirty="0">
                <a:solidFill>
                  <a:srgbClr val="00E5A0"/>
                </a:solidFill>
                <a:latin typeface="Calibri" pitchFamily="34" charset="0"/>
                <a:ea typeface="Calibri" pitchFamily="34" charset="-122"/>
                <a:cs typeface="Calibri" pitchFamily="34" charset="-120"/>
              </a:rPr>
              <a:t>✓</a:t>
            </a:r>
            <a:endParaRPr lang="en-US" sz="728" dirty="0"/>
          </a:p>
        </p:txBody>
      </p:sp>
      <p:sp>
        <p:nvSpPr>
          <p:cNvPr id="40" name="Text 38"/>
          <p:cNvSpPr/>
          <p:nvPr/>
        </p:nvSpPr>
        <p:spPr>
          <a:xfrm>
            <a:off x="932688" y="4928616"/>
            <a:ext cx="5394960" cy="310896"/>
          </a:xfrm>
          <a:prstGeom prst="rect">
            <a:avLst/>
          </a:prstGeom>
          <a:noFill/>
          <a:ln/>
        </p:spPr>
        <p:txBody>
          <a:bodyPr wrap="square" rtlCol="0" anchor="ctr"/>
          <a:lstStyle/>
          <a:p>
            <a:pPr marL="0" indent="0">
              <a:buNone/>
            </a:pPr>
            <a:r>
              <a:rPr lang="en-US" sz="1200" dirty="0">
                <a:solidFill>
                  <a:srgbClr val="F2F5FA"/>
                </a:solidFill>
                <a:latin typeface="Calibri" pitchFamily="34" charset="0"/>
                <a:ea typeface="Calibri" pitchFamily="34" charset="-122"/>
                <a:cs typeface="Calibri" pitchFamily="34" charset="-120"/>
              </a:rPr>
              <a:t>Confidence, with reason</a:t>
            </a:r>
            <a:endParaRPr lang="en-US" sz="1200" dirty="0"/>
          </a:p>
        </p:txBody>
      </p:sp>
      <p:sp>
        <p:nvSpPr>
          <p:cNvPr id="41" name="Shape 39"/>
          <p:cNvSpPr/>
          <p:nvPr/>
        </p:nvSpPr>
        <p:spPr>
          <a:xfrm>
            <a:off x="548640" y="5358384"/>
            <a:ext cx="256032" cy="256032"/>
          </a:xfrm>
          <a:prstGeom prst="ellipse">
            <a:avLst/>
          </a:prstGeom>
          <a:solidFill>
            <a:srgbClr val="0E2A22"/>
          </a:solidFill>
          <a:ln w="15875">
            <a:solidFill>
              <a:srgbClr val="00E5A0"/>
            </a:solidFill>
            <a:prstDash val="solid"/>
          </a:ln>
        </p:spPr>
      </p:sp>
      <p:sp>
        <p:nvSpPr>
          <p:cNvPr id="42" name="Text 40"/>
          <p:cNvSpPr/>
          <p:nvPr/>
        </p:nvSpPr>
        <p:spPr>
          <a:xfrm>
            <a:off x="548640" y="5358384"/>
            <a:ext cx="256032" cy="256032"/>
          </a:xfrm>
          <a:prstGeom prst="rect">
            <a:avLst/>
          </a:prstGeom>
          <a:noFill/>
          <a:ln/>
        </p:spPr>
        <p:txBody>
          <a:bodyPr wrap="square" rtlCol="0" anchor="ctr"/>
          <a:lstStyle/>
          <a:p>
            <a:pPr marL="0" indent="0" algn="ctr">
              <a:buNone/>
            </a:pPr>
            <a:r>
              <a:rPr lang="en-US" sz="728" b="1" dirty="0">
                <a:solidFill>
                  <a:srgbClr val="00E5A0"/>
                </a:solidFill>
                <a:latin typeface="Calibri" pitchFamily="34" charset="0"/>
                <a:ea typeface="Calibri" pitchFamily="34" charset="-122"/>
                <a:cs typeface="Calibri" pitchFamily="34" charset="-120"/>
              </a:rPr>
              <a:t>✓</a:t>
            </a:r>
            <a:endParaRPr lang="en-US" sz="728" dirty="0"/>
          </a:p>
        </p:txBody>
      </p:sp>
      <p:sp>
        <p:nvSpPr>
          <p:cNvPr id="43" name="Text 41"/>
          <p:cNvSpPr/>
          <p:nvPr/>
        </p:nvSpPr>
        <p:spPr>
          <a:xfrm>
            <a:off x="932688" y="5330952"/>
            <a:ext cx="5394960" cy="310896"/>
          </a:xfrm>
          <a:prstGeom prst="rect">
            <a:avLst/>
          </a:prstGeom>
          <a:noFill/>
          <a:ln/>
        </p:spPr>
        <p:txBody>
          <a:bodyPr wrap="square" rtlCol="0" anchor="ctr"/>
          <a:lstStyle/>
          <a:p>
            <a:pPr marL="0" indent="0">
              <a:buNone/>
            </a:pPr>
            <a:r>
              <a:rPr lang="en-US" sz="1200" dirty="0">
                <a:solidFill>
                  <a:srgbClr val="F2F5FA"/>
                </a:solidFill>
                <a:latin typeface="Calibri" pitchFamily="34" charset="0"/>
                <a:ea typeface="Calibri" pitchFamily="34" charset="-122"/>
                <a:cs typeface="Calibri" pitchFamily="34" charset="-120"/>
              </a:rPr>
              <a:t>Source citation (CVE ID + named feed)</a:t>
            </a:r>
            <a:endParaRPr lang="en-US" sz="1200" dirty="0"/>
          </a:p>
        </p:txBody>
      </p:sp>
      <p:sp>
        <p:nvSpPr>
          <p:cNvPr id="46" name="Text 44"/>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47" name="Text 45"/>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548640" y="384048"/>
            <a:ext cx="2286000" cy="310896"/>
          </a:xfrm>
          <a:prstGeom prst="roundRect">
            <a:avLst>
              <a:gd name="adj" fmla="val 50000"/>
            </a:avLst>
          </a:prstGeom>
          <a:solidFill>
            <a:srgbClr val="16223B"/>
          </a:solidFill>
          <a:ln w="12700">
            <a:solidFill>
              <a:srgbClr val="00E5A0"/>
            </a:solidFill>
            <a:prstDash val="solid"/>
          </a:ln>
        </p:spPr>
      </p:sp>
      <p:sp>
        <p:nvSpPr>
          <p:cNvPr id="3" name="Text 1"/>
          <p:cNvSpPr/>
          <p:nvPr/>
        </p:nvSpPr>
        <p:spPr>
          <a:xfrm>
            <a:off x="548640" y="384048"/>
            <a:ext cx="2286000" cy="310896"/>
          </a:xfrm>
          <a:prstGeom prst="rect">
            <a:avLst/>
          </a:prstGeom>
          <a:noFill/>
          <a:ln/>
        </p:spPr>
        <p:txBody>
          <a:bodyPr wrap="square" rtlCol="0" anchor="ctr"/>
          <a:lstStyle/>
          <a:p>
            <a:pPr marL="0" indent="0" algn="ctr">
              <a:buNone/>
            </a:pPr>
            <a:r>
              <a:rPr lang="en-US" sz="1100" b="1" kern="0" spc="100" dirty="0">
                <a:solidFill>
                  <a:srgbClr val="00E5A0"/>
                </a:solidFill>
                <a:latin typeface="Calibri" pitchFamily="34" charset="0"/>
                <a:ea typeface="Calibri" pitchFamily="34" charset="-122"/>
                <a:cs typeface="Calibri" pitchFamily="34" charset="-120"/>
              </a:rPr>
              <a:t>07 · RESULTS</a:t>
            </a:r>
            <a:endParaRPr lang="en-US" sz="1100" dirty="0"/>
          </a:p>
        </p:txBody>
      </p:sp>
      <p:sp>
        <p:nvSpPr>
          <p:cNvPr id="4" name="Text 2"/>
          <p:cNvSpPr/>
          <p:nvPr/>
        </p:nvSpPr>
        <p:spPr>
          <a:xfrm>
            <a:off x="548640" y="786384"/>
            <a:ext cx="11064240" cy="731520"/>
          </a:xfrm>
          <a:prstGeom prst="rect">
            <a:avLst/>
          </a:prstGeom>
          <a:noFill/>
          <a:ln/>
        </p:spPr>
        <p:txBody>
          <a:bodyPr wrap="square" rtlCol="0" anchor="ctr"/>
          <a:lstStyle/>
          <a:p>
            <a:pPr marL="0" indent="0">
              <a:buNone/>
            </a:pPr>
            <a:r>
              <a:rPr lang="en-US" sz="3000" b="1" dirty="0">
                <a:solidFill>
                  <a:srgbClr val="F2F5FA"/>
                </a:solidFill>
                <a:latin typeface="Cambria" pitchFamily="34" charset="0"/>
                <a:ea typeface="Cambria" pitchFamily="34" charset="-122"/>
                <a:cs typeface="Cambria" pitchFamily="34" charset="-120"/>
              </a:rPr>
              <a:t>What We Actually Delivered — and What’s Left</a:t>
            </a:r>
            <a:endParaRPr lang="en-US" sz="3000" dirty="0"/>
          </a:p>
        </p:txBody>
      </p:sp>
      <p:sp>
        <p:nvSpPr>
          <p:cNvPr id="5" name="Text 3"/>
          <p:cNvSpPr/>
          <p:nvPr/>
        </p:nvSpPr>
        <p:spPr>
          <a:xfrm>
            <a:off x="548640" y="1691640"/>
            <a:ext cx="5394960" cy="274320"/>
          </a:xfrm>
          <a:prstGeom prst="rect">
            <a:avLst/>
          </a:prstGeom>
          <a:noFill/>
          <a:ln/>
        </p:spPr>
        <p:txBody>
          <a:bodyPr wrap="square" rtlCol="0" anchor="ctr"/>
          <a:lstStyle/>
          <a:p>
            <a:pPr marL="0" indent="0">
              <a:buNone/>
            </a:pPr>
            <a:r>
              <a:rPr lang="en-US" sz="1200" b="1" kern="0" spc="100" dirty="0">
                <a:solidFill>
                  <a:srgbClr val="00E5A0"/>
                </a:solidFill>
                <a:latin typeface="Calibri" pitchFamily="34" charset="0"/>
                <a:ea typeface="Calibri" pitchFamily="34" charset="-122"/>
                <a:cs typeface="Calibri" pitchFamily="34" charset="-120"/>
              </a:rPr>
              <a:t>DELIVERED</a:t>
            </a:r>
            <a:endParaRPr lang="en-US" sz="1200" dirty="0"/>
          </a:p>
        </p:txBody>
      </p:sp>
      <p:sp>
        <p:nvSpPr>
          <p:cNvPr id="6" name="Shape 4"/>
          <p:cNvSpPr/>
          <p:nvPr/>
        </p:nvSpPr>
        <p:spPr>
          <a:xfrm>
            <a:off x="548640" y="2029968"/>
            <a:ext cx="237744" cy="237744"/>
          </a:xfrm>
          <a:prstGeom prst="ellipse">
            <a:avLst/>
          </a:prstGeom>
          <a:solidFill>
            <a:srgbClr val="0E2A22"/>
          </a:solidFill>
          <a:ln w="15875">
            <a:solidFill>
              <a:srgbClr val="00E5A0"/>
            </a:solidFill>
            <a:prstDash val="solid"/>
          </a:ln>
        </p:spPr>
      </p:sp>
      <p:sp>
        <p:nvSpPr>
          <p:cNvPr id="7" name="Text 5"/>
          <p:cNvSpPr/>
          <p:nvPr/>
        </p:nvSpPr>
        <p:spPr>
          <a:xfrm>
            <a:off x="548640" y="2029968"/>
            <a:ext cx="237744" cy="237744"/>
          </a:xfrm>
          <a:prstGeom prst="rect">
            <a:avLst/>
          </a:prstGeom>
          <a:noFill/>
          <a:ln/>
        </p:spPr>
        <p:txBody>
          <a:bodyPr wrap="square" rtlCol="0" anchor="ctr"/>
          <a:lstStyle/>
          <a:p>
            <a:pPr marL="0" indent="0" algn="ctr">
              <a:buNone/>
            </a:pPr>
            <a:r>
              <a:rPr lang="en-US" sz="676" b="1" dirty="0">
                <a:solidFill>
                  <a:srgbClr val="00E5A0"/>
                </a:solidFill>
                <a:latin typeface="Calibri" pitchFamily="34" charset="0"/>
                <a:ea typeface="Calibri" pitchFamily="34" charset="-122"/>
                <a:cs typeface="Calibri" pitchFamily="34" charset="-120"/>
              </a:rPr>
              <a:t>✓</a:t>
            </a:r>
            <a:endParaRPr lang="en-US" sz="676" dirty="0"/>
          </a:p>
        </p:txBody>
      </p:sp>
      <p:sp>
        <p:nvSpPr>
          <p:cNvPr id="8" name="Text 6"/>
          <p:cNvSpPr/>
          <p:nvPr/>
        </p:nvSpPr>
        <p:spPr>
          <a:xfrm>
            <a:off x="914400" y="2002536"/>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Working prototype for all 3 real organisations</a:t>
            </a:r>
            <a:endParaRPr lang="en-US" sz="1100" dirty="0"/>
          </a:p>
        </p:txBody>
      </p:sp>
      <p:sp>
        <p:nvSpPr>
          <p:cNvPr id="9" name="Shape 7"/>
          <p:cNvSpPr/>
          <p:nvPr/>
        </p:nvSpPr>
        <p:spPr>
          <a:xfrm>
            <a:off x="548640" y="2450592"/>
            <a:ext cx="237744" cy="237744"/>
          </a:xfrm>
          <a:prstGeom prst="ellipse">
            <a:avLst/>
          </a:prstGeom>
          <a:solidFill>
            <a:srgbClr val="0E2A22"/>
          </a:solidFill>
          <a:ln w="15875">
            <a:solidFill>
              <a:srgbClr val="00E5A0"/>
            </a:solidFill>
            <a:prstDash val="solid"/>
          </a:ln>
        </p:spPr>
      </p:sp>
      <p:sp>
        <p:nvSpPr>
          <p:cNvPr id="10" name="Text 8"/>
          <p:cNvSpPr/>
          <p:nvPr/>
        </p:nvSpPr>
        <p:spPr>
          <a:xfrm>
            <a:off x="548640" y="2450592"/>
            <a:ext cx="237744" cy="237744"/>
          </a:xfrm>
          <a:prstGeom prst="rect">
            <a:avLst/>
          </a:prstGeom>
          <a:noFill/>
          <a:ln/>
        </p:spPr>
        <p:txBody>
          <a:bodyPr wrap="square" rtlCol="0" anchor="ctr"/>
          <a:lstStyle/>
          <a:p>
            <a:pPr marL="0" indent="0" algn="ctr">
              <a:buNone/>
            </a:pPr>
            <a:r>
              <a:rPr lang="en-US" sz="676" b="1" dirty="0">
                <a:solidFill>
                  <a:srgbClr val="00E5A0"/>
                </a:solidFill>
                <a:latin typeface="Calibri" pitchFamily="34" charset="0"/>
                <a:ea typeface="Calibri" pitchFamily="34" charset="-122"/>
                <a:cs typeface="Calibri" pitchFamily="34" charset="-120"/>
              </a:rPr>
              <a:t>✓</a:t>
            </a:r>
            <a:endParaRPr lang="en-US" sz="676" dirty="0"/>
          </a:p>
        </p:txBody>
      </p:sp>
      <p:sp>
        <p:nvSpPr>
          <p:cNvPr id="11" name="Text 9"/>
          <p:cNvSpPr/>
          <p:nvPr/>
        </p:nvSpPr>
        <p:spPr>
          <a:xfrm>
            <a:off x="914400" y="2423160"/>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Formula validated: 10/10 practitioner ranks matched</a:t>
            </a:r>
            <a:endParaRPr lang="en-US" sz="1100" dirty="0"/>
          </a:p>
        </p:txBody>
      </p:sp>
      <p:sp>
        <p:nvSpPr>
          <p:cNvPr id="12" name="Shape 10"/>
          <p:cNvSpPr/>
          <p:nvPr/>
        </p:nvSpPr>
        <p:spPr>
          <a:xfrm>
            <a:off x="548640" y="2871216"/>
            <a:ext cx="237744" cy="237744"/>
          </a:xfrm>
          <a:prstGeom prst="ellipse">
            <a:avLst/>
          </a:prstGeom>
          <a:solidFill>
            <a:srgbClr val="0E2A22"/>
          </a:solidFill>
          <a:ln w="15875">
            <a:solidFill>
              <a:srgbClr val="00E5A0"/>
            </a:solidFill>
            <a:prstDash val="solid"/>
          </a:ln>
        </p:spPr>
      </p:sp>
      <p:sp>
        <p:nvSpPr>
          <p:cNvPr id="13" name="Text 11"/>
          <p:cNvSpPr/>
          <p:nvPr/>
        </p:nvSpPr>
        <p:spPr>
          <a:xfrm>
            <a:off x="548640" y="2871216"/>
            <a:ext cx="237744" cy="237744"/>
          </a:xfrm>
          <a:prstGeom prst="rect">
            <a:avLst/>
          </a:prstGeom>
          <a:noFill/>
          <a:ln/>
        </p:spPr>
        <p:txBody>
          <a:bodyPr wrap="square" rtlCol="0" anchor="ctr"/>
          <a:lstStyle/>
          <a:p>
            <a:pPr marL="0" indent="0" algn="ctr">
              <a:buNone/>
            </a:pPr>
            <a:r>
              <a:rPr lang="en-US" sz="676" b="1" dirty="0">
                <a:solidFill>
                  <a:srgbClr val="00E5A0"/>
                </a:solidFill>
                <a:latin typeface="Calibri" pitchFamily="34" charset="0"/>
                <a:ea typeface="Calibri" pitchFamily="34" charset="-122"/>
                <a:cs typeface="Calibri" pitchFamily="34" charset="-120"/>
              </a:rPr>
              <a:t>✓</a:t>
            </a:r>
            <a:endParaRPr lang="en-US" sz="676" dirty="0"/>
          </a:p>
        </p:txBody>
      </p:sp>
      <p:sp>
        <p:nvSpPr>
          <p:cNvPr id="14" name="Text 12"/>
          <p:cNvSpPr/>
          <p:nvPr/>
        </p:nvSpPr>
        <p:spPr>
          <a:xfrm>
            <a:off x="914400" y="2843784"/>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Real negative test: a perfect CVSS 10.0 correctly deprioritised</a:t>
            </a:r>
            <a:endParaRPr lang="en-US" sz="1100" dirty="0"/>
          </a:p>
        </p:txBody>
      </p:sp>
      <p:sp>
        <p:nvSpPr>
          <p:cNvPr id="15" name="Shape 13"/>
          <p:cNvSpPr/>
          <p:nvPr/>
        </p:nvSpPr>
        <p:spPr>
          <a:xfrm>
            <a:off x="548640" y="3291840"/>
            <a:ext cx="237744" cy="237744"/>
          </a:xfrm>
          <a:prstGeom prst="ellipse">
            <a:avLst/>
          </a:prstGeom>
          <a:solidFill>
            <a:srgbClr val="0E2A22"/>
          </a:solidFill>
          <a:ln w="15875">
            <a:solidFill>
              <a:srgbClr val="00E5A0"/>
            </a:solidFill>
            <a:prstDash val="solid"/>
          </a:ln>
        </p:spPr>
      </p:sp>
      <p:sp>
        <p:nvSpPr>
          <p:cNvPr id="16" name="Text 14"/>
          <p:cNvSpPr/>
          <p:nvPr/>
        </p:nvSpPr>
        <p:spPr>
          <a:xfrm>
            <a:off x="548640" y="3291840"/>
            <a:ext cx="237744" cy="237744"/>
          </a:xfrm>
          <a:prstGeom prst="rect">
            <a:avLst/>
          </a:prstGeom>
          <a:noFill/>
          <a:ln/>
        </p:spPr>
        <p:txBody>
          <a:bodyPr wrap="square" rtlCol="0" anchor="ctr"/>
          <a:lstStyle/>
          <a:p>
            <a:pPr marL="0" indent="0" algn="ctr">
              <a:buNone/>
            </a:pPr>
            <a:r>
              <a:rPr lang="en-US" sz="676" b="1" dirty="0">
                <a:solidFill>
                  <a:srgbClr val="00E5A0"/>
                </a:solidFill>
                <a:latin typeface="Calibri" pitchFamily="34" charset="0"/>
                <a:ea typeface="Calibri" pitchFamily="34" charset="-122"/>
                <a:cs typeface="Calibri" pitchFamily="34" charset="-120"/>
              </a:rPr>
              <a:t>✓</a:t>
            </a:r>
            <a:endParaRPr lang="en-US" sz="676" dirty="0"/>
          </a:p>
        </p:txBody>
      </p:sp>
      <p:sp>
        <p:nvSpPr>
          <p:cNvPr id="17" name="Text 15"/>
          <p:cNvSpPr/>
          <p:nvPr/>
        </p:nvSpPr>
        <p:spPr>
          <a:xfrm>
            <a:off x="914400" y="3264408"/>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Terminal output + browser-ready HTML report</a:t>
            </a:r>
            <a:endParaRPr lang="en-US" sz="1100" dirty="0"/>
          </a:p>
        </p:txBody>
      </p:sp>
      <p:sp>
        <p:nvSpPr>
          <p:cNvPr id="18" name="Shape 16"/>
          <p:cNvSpPr/>
          <p:nvPr/>
        </p:nvSpPr>
        <p:spPr>
          <a:xfrm>
            <a:off x="548640" y="3712464"/>
            <a:ext cx="237744" cy="237744"/>
          </a:xfrm>
          <a:prstGeom prst="ellipse">
            <a:avLst/>
          </a:prstGeom>
          <a:solidFill>
            <a:srgbClr val="0E2A22"/>
          </a:solidFill>
          <a:ln w="15875">
            <a:solidFill>
              <a:srgbClr val="00E5A0"/>
            </a:solidFill>
            <a:prstDash val="solid"/>
          </a:ln>
        </p:spPr>
      </p:sp>
      <p:sp>
        <p:nvSpPr>
          <p:cNvPr id="19" name="Text 17"/>
          <p:cNvSpPr/>
          <p:nvPr/>
        </p:nvSpPr>
        <p:spPr>
          <a:xfrm>
            <a:off x="548640" y="3712464"/>
            <a:ext cx="237744" cy="237744"/>
          </a:xfrm>
          <a:prstGeom prst="rect">
            <a:avLst/>
          </a:prstGeom>
          <a:noFill/>
          <a:ln/>
        </p:spPr>
        <p:txBody>
          <a:bodyPr wrap="square" rtlCol="0" anchor="ctr"/>
          <a:lstStyle/>
          <a:p>
            <a:pPr marL="0" indent="0" algn="ctr">
              <a:buNone/>
            </a:pPr>
            <a:r>
              <a:rPr lang="en-US" sz="676" b="1" dirty="0">
                <a:solidFill>
                  <a:srgbClr val="00E5A0"/>
                </a:solidFill>
                <a:latin typeface="Calibri" pitchFamily="34" charset="0"/>
                <a:ea typeface="Calibri" pitchFamily="34" charset="-122"/>
                <a:cs typeface="Calibri" pitchFamily="34" charset="-120"/>
              </a:rPr>
              <a:t>✓</a:t>
            </a:r>
            <a:endParaRPr lang="en-US" sz="676" dirty="0"/>
          </a:p>
        </p:txBody>
      </p:sp>
      <p:sp>
        <p:nvSpPr>
          <p:cNvPr id="20" name="Text 18"/>
          <p:cNvSpPr/>
          <p:nvPr/>
        </p:nvSpPr>
        <p:spPr>
          <a:xfrm>
            <a:off x="914400" y="3685032"/>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Self-checking: python main.py --validate</a:t>
            </a:r>
            <a:endParaRPr lang="en-US" sz="1100" dirty="0"/>
          </a:p>
        </p:txBody>
      </p:sp>
      <p:sp>
        <p:nvSpPr>
          <p:cNvPr id="21" name="Text 19"/>
          <p:cNvSpPr/>
          <p:nvPr/>
        </p:nvSpPr>
        <p:spPr>
          <a:xfrm>
            <a:off x="6263640" y="1691640"/>
            <a:ext cx="5394960" cy="274320"/>
          </a:xfrm>
          <a:prstGeom prst="rect">
            <a:avLst/>
          </a:prstGeom>
          <a:noFill/>
          <a:ln/>
        </p:spPr>
        <p:txBody>
          <a:bodyPr wrap="square" rtlCol="0" anchor="ctr"/>
          <a:lstStyle/>
          <a:p>
            <a:pPr marL="0" indent="0">
              <a:buNone/>
            </a:pPr>
            <a:r>
              <a:rPr lang="en-US" sz="1200" b="1" kern="0" spc="100" dirty="0">
                <a:solidFill>
                  <a:srgbClr val="FF5C5C"/>
                </a:solidFill>
                <a:latin typeface="Calibri" pitchFamily="34" charset="0"/>
                <a:ea typeface="Calibri" pitchFamily="34" charset="-122"/>
                <a:cs typeface="Calibri" pitchFamily="34" charset="-120"/>
              </a:rPr>
              <a:t>KNOWN LIMITATIONS</a:t>
            </a:r>
            <a:endParaRPr lang="en-US" sz="1200" dirty="0"/>
          </a:p>
        </p:txBody>
      </p:sp>
      <p:sp>
        <p:nvSpPr>
          <p:cNvPr id="22" name="Shape 20"/>
          <p:cNvSpPr/>
          <p:nvPr/>
        </p:nvSpPr>
        <p:spPr>
          <a:xfrm>
            <a:off x="6263640" y="2029968"/>
            <a:ext cx="237744" cy="237744"/>
          </a:xfrm>
          <a:prstGeom prst="ellipse">
            <a:avLst/>
          </a:prstGeom>
          <a:solidFill>
            <a:srgbClr val="2A1414"/>
          </a:solidFill>
          <a:ln w="15875">
            <a:solidFill>
              <a:srgbClr val="FF5C5C"/>
            </a:solidFill>
            <a:prstDash val="solid"/>
          </a:ln>
        </p:spPr>
      </p:sp>
      <p:sp>
        <p:nvSpPr>
          <p:cNvPr id="23" name="Text 21"/>
          <p:cNvSpPr/>
          <p:nvPr/>
        </p:nvSpPr>
        <p:spPr>
          <a:xfrm>
            <a:off x="6263640" y="2029968"/>
            <a:ext cx="237744" cy="237744"/>
          </a:xfrm>
          <a:prstGeom prst="rect">
            <a:avLst/>
          </a:prstGeom>
          <a:noFill/>
          <a:ln/>
        </p:spPr>
        <p:txBody>
          <a:bodyPr wrap="square" rtlCol="0" anchor="ctr"/>
          <a:lstStyle/>
          <a:p>
            <a:pPr marL="0" indent="0" algn="ctr">
              <a:buNone/>
            </a:pPr>
            <a:r>
              <a:rPr lang="en-US" sz="676" b="1" dirty="0">
                <a:solidFill>
                  <a:srgbClr val="FF5C5C"/>
                </a:solidFill>
                <a:latin typeface="Calibri" pitchFamily="34" charset="0"/>
                <a:ea typeface="Calibri" pitchFamily="34" charset="-122"/>
                <a:cs typeface="Calibri" pitchFamily="34" charset="-120"/>
              </a:rPr>
              <a:t>✕</a:t>
            </a:r>
            <a:endParaRPr lang="en-US" sz="676" dirty="0"/>
          </a:p>
        </p:txBody>
      </p:sp>
      <p:sp>
        <p:nvSpPr>
          <p:cNvPr id="24" name="Text 22"/>
          <p:cNvSpPr/>
          <p:nvPr/>
        </p:nvSpPr>
        <p:spPr>
          <a:xfrm>
            <a:off x="6629400" y="2002536"/>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No reference URLs or dates in this dataset</a:t>
            </a:r>
            <a:endParaRPr lang="en-US" sz="1100" dirty="0"/>
          </a:p>
        </p:txBody>
      </p:sp>
      <p:sp>
        <p:nvSpPr>
          <p:cNvPr id="25" name="Shape 23"/>
          <p:cNvSpPr/>
          <p:nvPr/>
        </p:nvSpPr>
        <p:spPr>
          <a:xfrm>
            <a:off x="6263640" y="2450592"/>
            <a:ext cx="237744" cy="237744"/>
          </a:xfrm>
          <a:prstGeom prst="ellipse">
            <a:avLst/>
          </a:prstGeom>
          <a:solidFill>
            <a:srgbClr val="2A1414"/>
          </a:solidFill>
          <a:ln w="15875">
            <a:solidFill>
              <a:srgbClr val="FF5C5C"/>
            </a:solidFill>
            <a:prstDash val="solid"/>
          </a:ln>
        </p:spPr>
      </p:sp>
      <p:sp>
        <p:nvSpPr>
          <p:cNvPr id="26" name="Text 24"/>
          <p:cNvSpPr/>
          <p:nvPr/>
        </p:nvSpPr>
        <p:spPr>
          <a:xfrm>
            <a:off x="6263640" y="2450592"/>
            <a:ext cx="237744" cy="237744"/>
          </a:xfrm>
          <a:prstGeom prst="rect">
            <a:avLst/>
          </a:prstGeom>
          <a:noFill/>
          <a:ln/>
        </p:spPr>
        <p:txBody>
          <a:bodyPr wrap="square" rtlCol="0" anchor="ctr"/>
          <a:lstStyle/>
          <a:p>
            <a:pPr marL="0" indent="0" algn="ctr">
              <a:buNone/>
            </a:pPr>
            <a:r>
              <a:rPr lang="en-US" sz="676" b="1" dirty="0">
                <a:solidFill>
                  <a:srgbClr val="FF5C5C"/>
                </a:solidFill>
                <a:latin typeface="Calibri" pitchFamily="34" charset="0"/>
                <a:ea typeface="Calibri" pitchFamily="34" charset="-122"/>
                <a:cs typeface="Calibri" pitchFamily="34" charset="-120"/>
              </a:rPr>
              <a:t>✕</a:t>
            </a:r>
            <a:endParaRPr lang="en-US" sz="676" dirty="0"/>
          </a:p>
        </p:txBody>
      </p:sp>
      <p:sp>
        <p:nvSpPr>
          <p:cNvPr id="27" name="Text 25"/>
          <p:cNvSpPr/>
          <p:nvPr/>
        </p:nvSpPr>
        <p:spPr>
          <a:xfrm>
            <a:off x="6629400" y="2423160"/>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No per-org version inventory to confirm install status</a:t>
            </a:r>
            <a:endParaRPr lang="en-US" sz="1100" dirty="0"/>
          </a:p>
        </p:txBody>
      </p:sp>
      <p:sp>
        <p:nvSpPr>
          <p:cNvPr id="28" name="Shape 26"/>
          <p:cNvSpPr/>
          <p:nvPr/>
        </p:nvSpPr>
        <p:spPr>
          <a:xfrm>
            <a:off x="6263640" y="2871216"/>
            <a:ext cx="237744" cy="237744"/>
          </a:xfrm>
          <a:prstGeom prst="ellipse">
            <a:avLst/>
          </a:prstGeom>
          <a:solidFill>
            <a:srgbClr val="2A1414"/>
          </a:solidFill>
          <a:ln w="15875">
            <a:solidFill>
              <a:srgbClr val="FF5C5C"/>
            </a:solidFill>
            <a:prstDash val="solid"/>
          </a:ln>
        </p:spPr>
      </p:sp>
      <p:sp>
        <p:nvSpPr>
          <p:cNvPr id="29" name="Text 27"/>
          <p:cNvSpPr/>
          <p:nvPr/>
        </p:nvSpPr>
        <p:spPr>
          <a:xfrm>
            <a:off x="6263640" y="2871216"/>
            <a:ext cx="237744" cy="237744"/>
          </a:xfrm>
          <a:prstGeom prst="rect">
            <a:avLst/>
          </a:prstGeom>
          <a:noFill/>
          <a:ln/>
        </p:spPr>
        <p:txBody>
          <a:bodyPr wrap="square" rtlCol="0" anchor="ctr"/>
          <a:lstStyle/>
          <a:p>
            <a:pPr marL="0" indent="0" algn="ctr">
              <a:buNone/>
            </a:pPr>
            <a:r>
              <a:rPr lang="en-US" sz="676" b="1" dirty="0">
                <a:solidFill>
                  <a:srgbClr val="FF5C5C"/>
                </a:solidFill>
                <a:latin typeface="Calibri" pitchFamily="34" charset="0"/>
                <a:ea typeface="Calibri" pitchFamily="34" charset="-122"/>
                <a:cs typeface="Calibri" pitchFamily="34" charset="-120"/>
              </a:rPr>
              <a:t>✕</a:t>
            </a:r>
            <a:endParaRPr lang="en-US" sz="676" dirty="0"/>
          </a:p>
        </p:txBody>
      </p:sp>
      <p:sp>
        <p:nvSpPr>
          <p:cNvPr id="30" name="Text 28"/>
          <p:cNvSpPr/>
          <p:nvPr/>
        </p:nvSpPr>
        <p:spPr>
          <a:xfrm>
            <a:off x="6629400" y="2843784"/>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+30 critical-asset bonus validated on 2 of 3 orgs only</a:t>
            </a:r>
            <a:endParaRPr lang="en-US" sz="1100" dirty="0"/>
          </a:p>
        </p:txBody>
      </p:sp>
      <p:sp>
        <p:nvSpPr>
          <p:cNvPr id="31" name="Shape 29"/>
          <p:cNvSpPr/>
          <p:nvPr/>
        </p:nvSpPr>
        <p:spPr>
          <a:xfrm>
            <a:off x="6263640" y="3291840"/>
            <a:ext cx="237744" cy="237744"/>
          </a:xfrm>
          <a:prstGeom prst="ellipse">
            <a:avLst/>
          </a:prstGeom>
          <a:solidFill>
            <a:srgbClr val="2A1414"/>
          </a:solidFill>
          <a:ln w="15875">
            <a:solidFill>
              <a:srgbClr val="FF5C5C"/>
            </a:solidFill>
            <a:prstDash val="solid"/>
          </a:ln>
        </p:spPr>
      </p:sp>
      <p:sp>
        <p:nvSpPr>
          <p:cNvPr id="32" name="Text 30"/>
          <p:cNvSpPr/>
          <p:nvPr/>
        </p:nvSpPr>
        <p:spPr>
          <a:xfrm>
            <a:off x="6263640" y="3291840"/>
            <a:ext cx="237744" cy="237744"/>
          </a:xfrm>
          <a:prstGeom prst="rect">
            <a:avLst/>
          </a:prstGeom>
          <a:noFill/>
          <a:ln/>
        </p:spPr>
        <p:txBody>
          <a:bodyPr wrap="square" rtlCol="0" anchor="ctr"/>
          <a:lstStyle/>
          <a:p>
            <a:pPr marL="0" indent="0" algn="ctr">
              <a:buNone/>
            </a:pPr>
            <a:r>
              <a:rPr lang="en-US" sz="676" b="1" dirty="0">
                <a:solidFill>
                  <a:srgbClr val="FF5C5C"/>
                </a:solidFill>
                <a:latin typeface="Calibri" pitchFamily="34" charset="0"/>
                <a:ea typeface="Calibri" pitchFamily="34" charset="-122"/>
                <a:cs typeface="Calibri" pitchFamily="34" charset="-120"/>
              </a:rPr>
              <a:t>✕</a:t>
            </a:r>
            <a:endParaRPr lang="en-US" sz="676" dirty="0"/>
          </a:p>
        </p:txBody>
      </p:sp>
      <p:sp>
        <p:nvSpPr>
          <p:cNvPr id="33" name="Text 31"/>
          <p:cNvSpPr/>
          <p:nvPr/>
        </p:nvSpPr>
        <p:spPr>
          <a:xfrm>
            <a:off x="6629400" y="3264408"/>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Template-based text, not natural language variation</a:t>
            </a:r>
            <a:endParaRPr lang="en-US" sz="1100" dirty="0"/>
          </a:p>
        </p:txBody>
      </p:sp>
      <p:sp>
        <p:nvSpPr>
          <p:cNvPr id="34" name="Shape 32"/>
          <p:cNvSpPr/>
          <p:nvPr/>
        </p:nvSpPr>
        <p:spPr>
          <a:xfrm>
            <a:off x="6263640" y="3712464"/>
            <a:ext cx="237744" cy="237744"/>
          </a:xfrm>
          <a:prstGeom prst="ellipse">
            <a:avLst/>
          </a:prstGeom>
          <a:solidFill>
            <a:srgbClr val="2A1414"/>
          </a:solidFill>
          <a:ln w="15875">
            <a:solidFill>
              <a:srgbClr val="FF5C5C"/>
            </a:solidFill>
            <a:prstDash val="solid"/>
          </a:ln>
        </p:spPr>
      </p:sp>
      <p:sp>
        <p:nvSpPr>
          <p:cNvPr id="35" name="Text 33"/>
          <p:cNvSpPr/>
          <p:nvPr/>
        </p:nvSpPr>
        <p:spPr>
          <a:xfrm>
            <a:off x="6263640" y="3712464"/>
            <a:ext cx="237744" cy="237744"/>
          </a:xfrm>
          <a:prstGeom prst="rect">
            <a:avLst/>
          </a:prstGeom>
          <a:noFill/>
          <a:ln/>
        </p:spPr>
        <p:txBody>
          <a:bodyPr wrap="square" rtlCol="0" anchor="ctr"/>
          <a:lstStyle/>
          <a:p>
            <a:pPr marL="0" indent="0" algn="ctr">
              <a:buNone/>
            </a:pPr>
            <a:r>
              <a:rPr lang="en-US" sz="676" b="1" dirty="0">
                <a:solidFill>
                  <a:srgbClr val="FF5C5C"/>
                </a:solidFill>
                <a:latin typeface="Calibri" pitchFamily="34" charset="0"/>
                <a:ea typeface="Calibri" pitchFamily="34" charset="-122"/>
                <a:cs typeface="Calibri" pitchFamily="34" charset="-120"/>
              </a:rPr>
              <a:t>✕</a:t>
            </a:r>
            <a:endParaRPr lang="en-US" sz="676" dirty="0"/>
          </a:p>
        </p:txBody>
      </p:sp>
      <p:sp>
        <p:nvSpPr>
          <p:cNvPr id="36" name="Text 34"/>
          <p:cNvSpPr/>
          <p:nvPr/>
        </p:nvSpPr>
        <p:spPr>
          <a:xfrm>
            <a:off x="6629400" y="3685032"/>
            <a:ext cx="5029200" cy="365760"/>
          </a:xfrm>
          <a:prstGeom prst="rect">
            <a:avLst/>
          </a:prstGeom>
          <a:noFill/>
          <a:ln/>
        </p:spPr>
        <p:txBody>
          <a:bodyPr wrap="square" rtlCol="0" anchor="ctr"/>
          <a:lstStyle/>
          <a:p>
            <a:pPr marL="0" indent="0">
              <a:buNone/>
            </a:pPr>
            <a:r>
              <a:rPr lang="en-US" sz="1100" dirty="0">
                <a:solidFill>
                  <a:srgbClr val="F2F5FA"/>
                </a:solidFill>
                <a:latin typeface="Calibri" pitchFamily="34" charset="0"/>
                <a:ea typeface="Calibri" pitchFamily="34" charset="-122"/>
                <a:cs typeface="Calibri" pitchFamily="34" charset="-120"/>
              </a:rPr>
              <a:t>Third org’s ranking unverified against gold data</a:t>
            </a:r>
            <a:endParaRPr lang="en-US" sz="1100" dirty="0"/>
          </a:p>
        </p:txBody>
      </p:sp>
      <p:sp>
        <p:nvSpPr>
          <p:cNvPr id="37" name="Shape 35"/>
          <p:cNvSpPr/>
          <p:nvPr/>
        </p:nvSpPr>
        <p:spPr>
          <a:xfrm>
            <a:off x="548640" y="4251960"/>
            <a:ext cx="11109960" cy="777240"/>
          </a:xfrm>
          <a:prstGeom prst="roundRect">
            <a:avLst>
              <a:gd name="adj" fmla="val 9412"/>
            </a:avLst>
          </a:prstGeom>
          <a:solidFill>
            <a:srgbClr val="16223B"/>
          </a:solidFill>
          <a:ln w="12700">
            <a:solidFill>
              <a:srgbClr val="3AA0FF"/>
            </a:solidFill>
            <a:prstDash val="solid"/>
          </a:ln>
        </p:spPr>
      </p:sp>
      <p:sp>
        <p:nvSpPr>
          <p:cNvPr id="38" name="Text 36"/>
          <p:cNvSpPr/>
          <p:nvPr/>
        </p:nvSpPr>
        <p:spPr>
          <a:xfrm>
            <a:off x="777240" y="4251960"/>
            <a:ext cx="2743200" cy="777240"/>
          </a:xfrm>
          <a:prstGeom prst="rect">
            <a:avLst/>
          </a:prstGeom>
          <a:noFill/>
          <a:ln/>
        </p:spPr>
        <p:txBody>
          <a:bodyPr wrap="square" rtlCol="0" anchor="ctr"/>
          <a:lstStyle/>
          <a:p>
            <a:pPr marL="0" indent="0">
              <a:buNone/>
            </a:pPr>
            <a:r>
              <a:rPr lang="en-US" sz="1300" b="1" dirty="0">
                <a:solidFill>
                  <a:srgbClr val="3AA0FF"/>
                </a:solidFill>
                <a:latin typeface="Cambria" pitchFamily="34" charset="0"/>
                <a:ea typeface="Cambria" pitchFamily="34" charset="-122"/>
                <a:cs typeface="Cambria" pitchFamily="34" charset="-120"/>
              </a:rPr>
              <a:t>HONEST BY DESIGN</a:t>
            </a:r>
            <a:endParaRPr lang="en-US" sz="1300" dirty="0"/>
          </a:p>
        </p:txBody>
      </p:sp>
      <p:sp>
        <p:nvSpPr>
          <p:cNvPr id="39" name="Text 37"/>
          <p:cNvSpPr/>
          <p:nvPr/>
        </p:nvSpPr>
        <p:spPr>
          <a:xfrm>
            <a:off x="3566160" y="4251960"/>
            <a:ext cx="7909560" cy="777240"/>
          </a:xfrm>
          <a:prstGeom prst="rect">
            <a:avLst/>
          </a:prstGeom>
          <a:noFill/>
          <a:ln/>
        </p:spPr>
        <p:txBody>
          <a:bodyPr wrap="square" rtlCol="0" anchor="ctr"/>
          <a:lstStyle/>
          <a:p>
            <a:pPr marL="0" indent="0">
              <a:buNone/>
            </a:pPr>
            <a:r>
              <a:rPr lang="en-US" sz="1150" i="1" dirty="0">
                <a:solidFill>
                  <a:srgbClr val="F2F5FA"/>
                </a:solidFill>
                <a:latin typeface="Calibri" pitchFamily="34" charset="0"/>
                <a:ea typeface="Calibri" pitchFamily="34" charset="-122"/>
                <a:cs typeface="Calibri" pitchFamily="34" charset="-120"/>
              </a:rPr>
              <a:t>We designed this to say "nothing matched this profile" rather than fake reassurance — and to name our own limitations here, not hide them.</a:t>
            </a:r>
            <a:endParaRPr lang="en-US" sz="1150" dirty="0"/>
          </a:p>
        </p:txBody>
      </p:sp>
      <p:sp>
        <p:nvSpPr>
          <p:cNvPr id="53" name="Text 51"/>
          <p:cNvSpPr/>
          <p:nvPr/>
        </p:nvSpPr>
        <p:spPr>
          <a:xfrm>
            <a:off x="457200" y="6510528"/>
            <a:ext cx="8229600" cy="274320"/>
          </a:xfrm>
          <a:prstGeom prst="rect">
            <a:avLst/>
          </a:prstGeom>
          <a:noFill/>
          <a:ln/>
        </p:spPr>
        <p:txBody>
          <a:bodyPr wrap="square" rtlCol="0" anchor="ctr"/>
          <a:lstStyle/>
          <a:p>
            <a:pPr marL="0" indent="0" algn="l">
              <a:buNone/>
            </a:pPr>
            <a:r>
              <a:rPr lang="en-US" sz="900" dirty="0">
                <a:solidFill>
                  <a:srgbClr val="9AA8C0"/>
                </a:solidFill>
                <a:latin typeface="Calibri" pitchFamily="34" charset="0"/>
                <a:ea typeface="Calibri" pitchFamily="34" charset="-122"/>
                <a:cs typeface="Calibri" pitchFamily="34" charset="-120"/>
              </a:rPr>
              <a:t>PERSONALISED VULNERABILITY TRIAGE  |  DOMAIN: CYBERSECURITY</a:t>
            </a:r>
            <a:endParaRPr lang="en-US" sz="900" dirty="0"/>
          </a:p>
        </p:txBody>
      </p:sp>
      <p:sp>
        <p:nvSpPr>
          <p:cNvPr id="54" name="Text 52"/>
          <p:cNvSpPr/>
          <p:nvPr/>
        </p:nvSpPr>
        <p:spPr>
          <a:xfrm>
            <a:off x="11430000" y="6510528"/>
            <a:ext cx="457200" cy="274320"/>
          </a:xfrm>
          <a:prstGeom prst="rect">
            <a:avLst/>
          </a:prstGeom>
          <a:noFill/>
          <a:ln/>
        </p:spPr>
        <p:txBody>
          <a:bodyPr wrap="square" rtlCol="0" anchor="ctr"/>
          <a:lstStyle/>
          <a:p>
            <a:pPr marL="0" indent="0" algn="r">
              <a:buNone/>
            </a:pPr>
            <a:r>
              <a:rPr lang="en-US" sz="900" dirty="0">
                <a:solidFill>
                  <a:srgbClr val="9AA8C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1654</Words>
  <Application>Microsoft Office PowerPoint</Application>
  <PresentationFormat>Widescreen</PresentationFormat>
  <Paragraphs>274</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Ravikumar R</cp:lastModifiedBy>
  <cp:revision>4</cp:revision>
  <dcterms:created xsi:type="dcterms:W3CDTF">2026-08-22T13:36:35Z</dcterms:created>
  <dcterms:modified xsi:type="dcterms:W3CDTF">2026-08-22T14:55:00Z</dcterms:modified>
</cp:coreProperties>
</file>